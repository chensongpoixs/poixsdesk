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6" r:id="rId4"/>
    <p:sldId id="258" r:id="rId5"/>
    <p:sldId id="259" r:id="rId6"/>
    <p:sldId id="260" r:id="rId7"/>
    <p:sldId id="261" r:id="rId8"/>
    <p:sldId id="262" r:id="rId9"/>
    <p:sldId id="266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song" initials="c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72" y="84"/>
      </p:cViewPr>
      <p:guideLst>
        <p:guide orient="horz" pos="2160"/>
        <p:guide pos="38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16T13:07:17.375" idx="2">
    <p:pos x="10" y="10"/>
    <p:text/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00450" y="409337"/>
            <a:ext cx="3507475" cy="2033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endParaRPr lang="zh-CN" altLang="en-US" sz="1200" dirty="0"/>
          </a:p>
        </p:txBody>
      </p:sp>
      <p:sp>
        <p:nvSpPr>
          <p:cNvPr id="5" name="矩形 4"/>
          <p:cNvSpPr/>
          <p:nvPr/>
        </p:nvSpPr>
        <p:spPr>
          <a:xfrm>
            <a:off x="2511187" y="2067637"/>
            <a:ext cx="1978926" cy="3684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自营云电脑平台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2111991" y="716505"/>
            <a:ext cx="1480782" cy="28660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登录</a:t>
            </a:r>
            <a:r>
              <a:rPr lang="en-US" altLang="zh-CN" dirty="0" smtClean="0"/>
              <a:t>/</a:t>
            </a:r>
            <a:r>
              <a:rPr lang="zh-CN" altLang="en-US" dirty="0" smtClean="0"/>
              <a:t>注册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2111991" y="1204366"/>
            <a:ext cx="1480782" cy="28660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订单管理</a:t>
            </a:r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2111991" y="1637166"/>
            <a:ext cx="1480782" cy="28660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充值管理</a:t>
            </a:r>
            <a:endParaRPr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3695853" y="716506"/>
            <a:ext cx="1480782" cy="28660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用户管理</a:t>
            </a:r>
            <a:endParaRPr lang="zh-CN" alt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3695853" y="1207825"/>
            <a:ext cx="1480782" cy="28660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营销活动</a:t>
            </a:r>
            <a:endParaRPr lang="zh-CN" altLang="en-US" dirty="0"/>
          </a:p>
        </p:txBody>
      </p:sp>
      <p:sp>
        <p:nvSpPr>
          <p:cNvPr id="11" name="圆角矩形 10"/>
          <p:cNvSpPr/>
          <p:nvPr/>
        </p:nvSpPr>
        <p:spPr>
          <a:xfrm>
            <a:off x="3695853" y="1669465"/>
            <a:ext cx="1480782" cy="28660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包时卡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991787" y="498143"/>
            <a:ext cx="3254991" cy="18697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841361" y="1917925"/>
            <a:ext cx="1555845" cy="3411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三方流量入口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7319334" y="786456"/>
            <a:ext cx="1044054" cy="28660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淘宝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8811077" y="795242"/>
            <a:ext cx="1044054" cy="28660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京东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7310544" y="1332374"/>
            <a:ext cx="1044054" cy="28660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bilibili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8811077" y="1298034"/>
            <a:ext cx="1044054" cy="28660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抖音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675564" y="3193576"/>
            <a:ext cx="10645254" cy="18629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490113" y="3323230"/>
            <a:ext cx="3036627" cy="232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统一调度平台</a:t>
            </a:r>
            <a:endParaRPr lang="zh-CN" altLang="en-US" dirty="0"/>
          </a:p>
        </p:txBody>
      </p:sp>
      <p:sp>
        <p:nvSpPr>
          <p:cNvPr id="20" name="圆角矩形 19"/>
          <p:cNvSpPr/>
          <p:nvPr/>
        </p:nvSpPr>
        <p:spPr>
          <a:xfrm>
            <a:off x="3770193" y="3766785"/>
            <a:ext cx="4258101" cy="327543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平台</a:t>
            </a:r>
            <a:r>
              <a:rPr lang="en-US" altLang="zh-CN" dirty="0" err="1" smtClean="0"/>
              <a:t>Api</a:t>
            </a:r>
            <a:r>
              <a:rPr lang="en-US" altLang="zh-CN" dirty="0" smtClean="0"/>
              <a:t>/SDK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125940" y="4176215"/>
            <a:ext cx="1330657" cy="25248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资源管理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5343097" y="4237631"/>
            <a:ext cx="1330657" cy="25248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安全鉴权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9248633" y="4254692"/>
            <a:ext cx="1330657" cy="25248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订单管理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1125940" y="4697105"/>
            <a:ext cx="1330657" cy="25248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调度方管理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5406788" y="4694829"/>
            <a:ext cx="1330657" cy="25248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资源方管理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9248633" y="4713026"/>
            <a:ext cx="1330657" cy="25248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收益管理</a:t>
            </a:r>
            <a:endParaRPr lang="zh-CN" altLang="en-US" dirty="0"/>
          </a:p>
        </p:txBody>
      </p:sp>
      <p:sp>
        <p:nvSpPr>
          <p:cNvPr id="2" name="上箭头 1"/>
          <p:cNvSpPr/>
          <p:nvPr/>
        </p:nvSpPr>
        <p:spPr>
          <a:xfrm>
            <a:off x="4589058" y="2616959"/>
            <a:ext cx="2620370" cy="532263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整合输出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893928" y="6039135"/>
            <a:ext cx="2013044" cy="8188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自营机房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4892721" y="6039133"/>
            <a:ext cx="2013044" cy="8188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网吧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8027726" y="6039134"/>
            <a:ext cx="2013044" cy="8188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阿里云</a:t>
            </a:r>
            <a:endParaRPr lang="zh-CN" altLang="en-US" dirty="0"/>
          </a:p>
        </p:txBody>
      </p:sp>
      <p:sp>
        <p:nvSpPr>
          <p:cNvPr id="29" name="上箭头 28"/>
          <p:cNvSpPr/>
          <p:nvPr/>
        </p:nvSpPr>
        <p:spPr>
          <a:xfrm>
            <a:off x="4234218" y="5295333"/>
            <a:ext cx="3527946" cy="41625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资源接入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3685" y="140335"/>
            <a:ext cx="3883660" cy="441325"/>
          </a:xfrm>
        </p:spPr>
        <p:txBody>
          <a:bodyPr>
            <a:normAutofit fontScale="90000"/>
          </a:bodyPr>
          <a:lstStyle/>
          <a:p>
            <a:pPr algn="ctr"/>
            <a:r>
              <a:rPr lang="zh-HK" altLang="en-US" sz="3555" dirty="0">
                <a:solidFill>
                  <a:schemeClr val="accent5">
                    <a:lumMod val="75000"/>
                  </a:schemeClr>
                </a:solidFill>
              </a:rPr>
              <a:t>云电脑平台架构</a:t>
            </a:r>
            <a:endParaRPr lang="zh-HK" altLang="en-US" sz="3555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224790" y="553720"/>
            <a:ext cx="4863465" cy="74549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0"/>
              </a:lnSpc>
            </a:pPr>
            <a:r>
              <a:rPr lang="zh-CN" altLang="zh-HK" dirty="0" smtClean="0"/>
              <a:t>接口层</a:t>
            </a:r>
            <a:endParaRPr lang="zh-CN" altLang="zh-HK" dirty="0"/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48603" y="835196"/>
            <a:ext cx="1188720" cy="4546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客户主服务</a:t>
            </a:r>
            <a:endParaRPr lang="zh-CN" altLang="en-US" sz="1200" dirty="0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12185" y="789940"/>
            <a:ext cx="1377315" cy="4546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SDK</a:t>
            </a:r>
            <a:endParaRPr lang="en-US" altLang="zh-CN" sz="1200" dirty="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1707989" y="844550"/>
            <a:ext cx="1494790" cy="4546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API</a:t>
            </a:r>
            <a:endParaRPr lang="en-US" altLang="zh-CN" sz="1200" dirty="0"/>
          </a:p>
        </p:txBody>
      </p:sp>
      <p:sp>
        <p:nvSpPr>
          <p:cNvPr id="11" name="圓角矩形 10"/>
          <p:cNvSpPr/>
          <p:nvPr/>
        </p:nvSpPr>
        <p:spPr>
          <a:xfrm>
            <a:off x="5269865" y="553720"/>
            <a:ext cx="5068570" cy="74803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0"/>
              </a:lnSpc>
            </a:pPr>
            <a:r>
              <a:rPr lang="zh-CN" altLang="zh-HK"/>
              <a:t>管理层</a:t>
            </a:r>
            <a:endParaRPr lang="zh-CN" altLang="zh-HK"/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5302885" y="847090"/>
            <a:ext cx="848995" cy="4546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租户管理</a:t>
            </a:r>
            <a:endParaRPr lang="zh-CN" altLang="en-US" sz="1200" dirty="0"/>
          </a:p>
        </p:txBody>
      </p:sp>
      <p:sp>
        <p:nvSpPr>
          <p:cNvPr id="13" name="矩形 12"/>
          <p:cNvSpPr/>
          <p:nvPr>
            <p:custDataLst>
              <p:tags r:id="rId5"/>
            </p:custDataLst>
          </p:nvPr>
        </p:nvSpPr>
        <p:spPr>
          <a:xfrm>
            <a:off x="6172835" y="847090"/>
            <a:ext cx="893445" cy="4546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用户管理</a:t>
            </a:r>
            <a:endParaRPr lang="zh-CN" altLang="en-US" sz="1200" dirty="0"/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>
          <a:xfrm>
            <a:off x="7105650" y="847090"/>
            <a:ext cx="928370" cy="4546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计费管理</a:t>
            </a:r>
            <a:endParaRPr lang="zh-CN" altLang="en-US" sz="1200" dirty="0"/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8075930" y="847090"/>
            <a:ext cx="1097280" cy="4546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认证管理</a:t>
            </a:r>
            <a:endParaRPr lang="zh-CN" altLang="en-US" sz="1200" dirty="0"/>
          </a:p>
        </p:txBody>
      </p:sp>
      <p:sp>
        <p:nvSpPr>
          <p:cNvPr id="16" name="圓角矩形 15"/>
          <p:cNvSpPr/>
          <p:nvPr/>
        </p:nvSpPr>
        <p:spPr>
          <a:xfrm>
            <a:off x="207010" y="1368425"/>
            <a:ext cx="10284460" cy="1010285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0"/>
              </a:lnSpc>
            </a:pPr>
            <a:r>
              <a:rPr lang="zh-CN" altLang="zh-HK"/>
              <a:t>微服务平台</a:t>
            </a:r>
            <a:endParaRPr lang="zh-CN" altLang="zh-HK"/>
          </a:p>
          <a:p>
            <a:pPr algn="ctr">
              <a:lnSpc>
                <a:spcPct val="0"/>
              </a:lnSpc>
            </a:pPr>
            <a:endParaRPr lang="zh-CN" altLang="zh-HK"/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207010" y="1842135"/>
            <a:ext cx="1370965" cy="4546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数据库集群</a:t>
            </a:r>
            <a:endParaRPr lang="zh-CN" altLang="en-US" dirty="0"/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1536700" y="1842135"/>
            <a:ext cx="1195070" cy="4546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消息中心</a:t>
            </a:r>
            <a:endParaRPr lang="zh-CN" altLang="en-US" dirty="0"/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>
          <a:xfrm>
            <a:off x="2728595" y="1842135"/>
            <a:ext cx="1108075" cy="4546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路由调度</a:t>
            </a:r>
            <a:endParaRPr lang="zh-CN" altLang="en-US" dirty="0"/>
          </a:p>
        </p:txBody>
      </p:sp>
      <p:sp>
        <p:nvSpPr>
          <p:cNvPr id="20" name="矩形 19"/>
          <p:cNvSpPr/>
          <p:nvPr>
            <p:custDataLst>
              <p:tags r:id="rId11"/>
            </p:custDataLst>
          </p:nvPr>
        </p:nvSpPr>
        <p:spPr>
          <a:xfrm>
            <a:off x="3789045" y="1842135"/>
            <a:ext cx="1351280" cy="4546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微服务治理</a:t>
            </a:r>
            <a:endParaRPr lang="zh-CN" altLang="en-US" dirty="0"/>
          </a:p>
        </p:txBody>
      </p:sp>
      <p:sp>
        <p:nvSpPr>
          <p:cNvPr id="21" name="矩形 20"/>
          <p:cNvSpPr/>
          <p:nvPr>
            <p:custDataLst>
              <p:tags r:id="rId12"/>
            </p:custDataLst>
          </p:nvPr>
        </p:nvSpPr>
        <p:spPr>
          <a:xfrm>
            <a:off x="5070475" y="1842135"/>
            <a:ext cx="1140460" cy="4546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监控警告</a:t>
            </a:r>
            <a:endParaRPr lang="zh-CN" altLang="en-US" dirty="0"/>
          </a:p>
        </p:txBody>
      </p:sp>
      <p:sp>
        <p:nvSpPr>
          <p:cNvPr id="22" name="矩形 21"/>
          <p:cNvSpPr/>
          <p:nvPr>
            <p:custDataLst>
              <p:tags r:id="rId13"/>
            </p:custDataLst>
          </p:nvPr>
        </p:nvSpPr>
        <p:spPr>
          <a:xfrm>
            <a:off x="6172835" y="1842135"/>
            <a:ext cx="1148080" cy="4546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容灾备份</a:t>
            </a:r>
            <a:endParaRPr lang="zh-CN" altLang="en-US" dirty="0"/>
          </a:p>
        </p:txBody>
      </p:sp>
      <p:sp>
        <p:nvSpPr>
          <p:cNvPr id="23" name="矩形 22"/>
          <p:cNvSpPr/>
          <p:nvPr>
            <p:custDataLst>
              <p:tags r:id="rId14"/>
            </p:custDataLst>
          </p:nvPr>
        </p:nvSpPr>
        <p:spPr>
          <a:xfrm>
            <a:off x="7320915" y="1842135"/>
            <a:ext cx="1151255" cy="4546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配置中心</a:t>
            </a:r>
            <a:endParaRPr lang="zh-CN" altLang="en-US" dirty="0"/>
          </a:p>
        </p:txBody>
      </p:sp>
      <p:sp>
        <p:nvSpPr>
          <p:cNvPr id="24" name="矩形 23"/>
          <p:cNvSpPr/>
          <p:nvPr>
            <p:custDataLst>
              <p:tags r:id="rId15"/>
            </p:custDataLst>
          </p:nvPr>
        </p:nvSpPr>
        <p:spPr>
          <a:xfrm>
            <a:off x="8472170" y="1842135"/>
            <a:ext cx="891540" cy="4546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控制台</a:t>
            </a:r>
            <a:endParaRPr lang="zh-CN" altLang="en-US" dirty="0"/>
          </a:p>
        </p:txBody>
      </p:sp>
      <p:sp>
        <p:nvSpPr>
          <p:cNvPr id="25" name="矩形 24"/>
          <p:cNvSpPr/>
          <p:nvPr>
            <p:custDataLst>
              <p:tags r:id="rId16"/>
            </p:custDataLst>
          </p:nvPr>
        </p:nvSpPr>
        <p:spPr>
          <a:xfrm>
            <a:off x="9345930" y="1842135"/>
            <a:ext cx="1145540" cy="4546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负载均衡</a:t>
            </a:r>
            <a:endParaRPr lang="zh-CN" altLang="en-US" dirty="0"/>
          </a:p>
        </p:txBody>
      </p:sp>
      <p:sp>
        <p:nvSpPr>
          <p:cNvPr id="26" name="圓角矩形 25"/>
          <p:cNvSpPr/>
          <p:nvPr/>
        </p:nvSpPr>
        <p:spPr>
          <a:xfrm>
            <a:off x="207010" y="2494280"/>
            <a:ext cx="10600055" cy="28194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0"/>
              </a:lnSpc>
            </a:pPr>
            <a:r>
              <a:rPr lang="zh-CN" altLang="zh-HK"/>
              <a:t>系统层</a:t>
            </a:r>
            <a:endParaRPr lang="zh-CN" altLang="zh-HK"/>
          </a:p>
          <a:p>
            <a:pPr algn="ctr">
              <a:lnSpc>
                <a:spcPct val="0"/>
              </a:lnSpc>
            </a:pPr>
            <a:endParaRPr lang="zh-CN" altLang="zh-HK"/>
          </a:p>
        </p:txBody>
      </p:sp>
      <p:sp>
        <p:nvSpPr>
          <p:cNvPr id="28" name="矩形 27"/>
          <p:cNvSpPr/>
          <p:nvPr/>
        </p:nvSpPr>
        <p:spPr>
          <a:xfrm>
            <a:off x="3705225" y="2609215"/>
            <a:ext cx="3768725" cy="25908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0"/>
              </a:lnSpc>
            </a:pPr>
            <a:endParaRPr lang="en-US" altLang="zh-CN"/>
          </a:p>
        </p:txBody>
      </p:sp>
      <p:sp>
        <p:nvSpPr>
          <p:cNvPr id="29" name="圓角矩形 28"/>
          <p:cNvSpPr/>
          <p:nvPr/>
        </p:nvSpPr>
        <p:spPr>
          <a:xfrm>
            <a:off x="3928110" y="3361055"/>
            <a:ext cx="961390" cy="3575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200"/>
              <a:t>编码器</a:t>
            </a:r>
            <a:endParaRPr lang="zh-CN" altLang="zh-HK" sz="1200"/>
          </a:p>
        </p:txBody>
      </p:sp>
      <p:sp>
        <p:nvSpPr>
          <p:cNvPr id="30" name="文字框 29"/>
          <p:cNvSpPr txBox="1"/>
          <p:nvPr/>
        </p:nvSpPr>
        <p:spPr>
          <a:xfrm>
            <a:off x="4277360" y="2757170"/>
            <a:ext cx="2595880" cy="325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zh-HK">
                <a:solidFill>
                  <a:schemeClr val="bg1"/>
                </a:solidFill>
              </a:rPr>
              <a:t>实时流媒体系统</a:t>
            </a:r>
            <a:r>
              <a:rPr lang="en-US" altLang="zh-CN">
                <a:solidFill>
                  <a:schemeClr val="bg1"/>
                </a:solidFill>
              </a:rPr>
              <a:t>CRTC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1" name="文字框 30"/>
          <p:cNvSpPr txBox="1"/>
          <p:nvPr/>
        </p:nvSpPr>
        <p:spPr>
          <a:xfrm>
            <a:off x="3928110" y="3043555"/>
            <a:ext cx="1643380" cy="298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HK" sz="1200">
                <a:solidFill>
                  <a:schemeClr val="tx1"/>
                </a:solidFill>
              </a:rPr>
              <a:t>Audio/Video</a:t>
            </a:r>
            <a:endParaRPr lang="en-US" altLang="zh-HK" sz="1200">
              <a:solidFill>
                <a:schemeClr val="tx1"/>
              </a:solidFill>
            </a:endParaRPr>
          </a:p>
        </p:txBody>
      </p:sp>
      <p:sp>
        <p:nvSpPr>
          <p:cNvPr id="33" name="圓角矩形 32"/>
          <p:cNvSpPr/>
          <p:nvPr/>
        </p:nvSpPr>
        <p:spPr>
          <a:xfrm>
            <a:off x="5029835" y="3361690"/>
            <a:ext cx="1143000" cy="3581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200"/>
              <a:t>图像增强</a:t>
            </a:r>
            <a:endParaRPr lang="zh-CN" altLang="zh-HK" sz="1200"/>
          </a:p>
        </p:txBody>
      </p:sp>
      <p:sp>
        <p:nvSpPr>
          <p:cNvPr id="34" name="圓角矩形 33"/>
          <p:cNvSpPr/>
          <p:nvPr/>
        </p:nvSpPr>
        <p:spPr>
          <a:xfrm>
            <a:off x="3926840" y="3811270"/>
            <a:ext cx="962660" cy="3683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200"/>
              <a:t>抖动控制</a:t>
            </a:r>
            <a:endParaRPr lang="zh-CN" altLang="zh-HK" sz="1200"/>
          </a:p>
        </p:txBody>
      </p:sp>
      <p:sp>
        <p:nvSpPr>
          <p:cNvPr id="35" name="圓角矩形 34"/>
          <p:cNvSpPr/>
          <p:nvPr/>
        </p:nvSpPr>
        <p:spPr>
          <a:xfrm>
            <a:off x="3926840" y="4294505"/>
            <a:ext cx="962660" cy="3575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200"/>
              <a:t>预处理</a:t>
            </a:r>
            <a:endParaRPr lang="zh-CN" altLang="zh-HK" sz="1200"/>
          </a:p>
        </p:txBody>
      </p:sp>
      <p:sp>
        <p:nvSpPr>
          <p:cNvPr id="36" name="圓角矩形 35"/>
          <p:cNvSpPr/>
          <p:nvPr/>
        </p:nvSpPr>
        <p:spPr>
          <a:xfrm>
            <a:off x="5029835" y="3822065"/>
            <a:ext cx="1143000" cy="3575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200"/>
              <a:t>音视频同步</a:t>
            </a:r>
            <a:endParaRPr lang="zh-CN" altLang="zh-HK" sz="1200"/>
          </a:p>
        </p:txBody>
      </p:sp>
      <p:sp>
        <p:nvSpPr>
          <p:cNvPr id="37" name="圓角矩形 36"/>
          <p:cNvSpPr/>
          <p:nvPr/>
        </p:nvSpPr>
        <p:spPr>
          <a:xfrm>
            <a:off x="3926840" y="4765675"/>
            <a:ext cx="1009650" cy="3575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200"/>
              <a:t>音视频采集</a:t>
            </a:r>
            <a:endParaRPr lang="zh-CN" altLang="zh-HK" sz="1200"/>
          </a:p>
        </p:txBody>
      </p:sp>
      <p:sp>
        <p:nvSpPr>
          <p:cNvPr id="38" name="圓角矩形 37"/>
          <p:cNvSpPr/>
          <p:nvPr/>
        </p:nvSpPr>
        <p:spPr>
          <a:xfrm>
            <a:off x="5070475" y="4765675"/>
            <a:ext cx="1009650" cy="3575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200"/>
              <a:t>渲染</a:t>
            </a:r>
            <a:endParaRPr lang="zh-CN" altLang="zh-HK" sz="1200"/>
          </a:p>
        </p:txBody>
      </p:sp>
      <p:sp>
        <p:nvSpPr>
          <p:cNvPr id="39" name="文字框 38"/>
          <p:cNvSpPr txBox="1"/>
          <p:nvPr/>
        </p:nvSpPr>
        <p:spPr>
          <a:xfrm>
            <a:off x="6464300" y="3043555"/>
            <a:ext cx="11696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HK" sz="1200"/>
              <a:t>网络传输</a:t>
            </a:r>
            <a:endParaRPr lang="zh-CN" altLang="zh-HK" sz="1200"/>
          </a:p>
        </p:txBody>
      </p:sp>
      <p:sp>
        <p:nvSpPr>
          <p:cNvPr id="40" name="圓角矩形 39"/>
          <p:cNvSpPr/>
          <p:nvPr/>
        </p:nvSpPr>
        <p:spPr>
          <a:xfrm>
            <a:off x="6372225" y="3362325"/>
            <a:ext cx="1009650" cy="3575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UDP/TCP</a:t>
            </a:r>
            <a:endParaRPr lang="zh-CN" altLang="en-US" sz="1200"/>
          </a:p>
        </p:txBody>
      </p:sp>
      <p:sp>
        <p:nvSpPr>
          <p:cNvPr id="41" name="圓角矩形 40"/>
          <p:cNvSpPr/>
          <p:nvPr/>
        </p:nvSpPr>
        <p:spPr>
          <a:xfrm>
            <a:off x="6372225" y="3822065"/>
            <a:ext cx="1009650" cy="3575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带宽评估</a:t>
            </a:r>
            <a:endParaRPr lang="zh-CN" altLang="en-US" sz="1200"/>
          </a:p>
        </p:txBody>
      </p:sp>
      <p:sp>
        <p:nvSpPr>
          <p:cNvPr id="42" name="圓角矩形 41"/>
          <p:cNvSpPr/>
          <p:nvPr/>
        </p:nvSpPr>
        <p:spPr>
          <a:xfrm>
            <a:off x="6372225" y="4344035"/>
            <a:ext cx="1009650" cy="3575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STUN/TURN</a:t>
            </a:r>
            <a:endParaRPr lang="zh-CN" altLang="en-US" sz="1200"/>
          </a:p>
        </p:txBody>
      </p:sp>
      <p:sp>
        <p:nvSpPr>
          <p:cNvPr id="43" name="圓角矩形 42"/>
          <p:cNvSpPr/>
          <p:nvPr/>
        </p:nvSpPr>
        <p:spPr>
          <a:xfrm>
            <a:off x="6372225" y="4765675"/>
            <a:ext cx="1009650" cy="3575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网络</a:t>
            </a:r>
            <a:r>
              <a:rPr lang="en-US" altLang="zh-CN" sz="1200"/>
              <a:t>IO</a:t>
            </a:r>
            <a:endParaRPr lang="en-US" altLang="zh-CN" sz="1200"/>
          </a:p>
        </p:txBody>
      </p:sp>
      <p:sp>
        <p:nvSpPr>
          <p:cNvPr id="44" name="矩形 43"/>
          <p:cNvSpPr/>
          <p:nvPr/>
        </p:nvSpPr>
        <p:spPr>
          <a:xfrm>
            <a:off x="1242060" y="2647950"/>
            <a:ext cx="2346325" cy="25520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5" name="文字框 44"/>
          <p:cNvSpPr txBox="1"/>
          <p:nvPr/>
        </p:nvSpPr>
        <p:spPr>
          <a:xfrm>
            <a:off x="1494155" y="2813685"/>
            <a:ext cx="186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HK">
                <a:solidFill>
                  <a:schemeClr val="bg1"/>
                </a:solidFill>
              </a:rPr>
              <a:t>跨平台文件系统</a:t>
            </a:r>
            <a:endParaRPr lang="zh-CN" altLang="zh-HK">
              <a:solidFill>
                <a:schemeClr val="bg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49515" y="2647950"/>
            <a:ext cx="2370455" cy="25914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文字框 46"/>
          <p:cNvSpPr txBox="1"/>
          <p:nvPr/>
        </p:nvSpPr>
        <p:spPr>
          <a:xfrm>
            <a:off x="7767955" y="2757170"/>
            <a:ext cx="2031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HK"/>
              <a:t>高效文件传输系统</a:t>
            </a:r>
            <a:endParaRPr lang="zh-CN" altLang="zh-HK"/>
          </a:p>
        </p:txBody>
      </p:sp>
      <p:sp>
        <p:nvSpPr>
          <p:cNvPr id="48" name="矩形 47"/>
          <p:cNvSpPr/>
          <p:nvPr>
            <p:custDataLst>
              <p:tags r:id="rId17"/>
            </p:custDataLst>
          </p:nvPr>
        </p:nvSpPr>
        <p:spPr>
          <a:xfrm>
            <a:off x="9240520" y="847090"/>
            <a:ext cx="1097280" cy="4546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鉴权管理</a:t>
            </a:r>
            <a:endParaRPr lang="zh-CN" altLang="en-US" sz="1200" dirty="0"/>
          </a:p>
        </p:txBody>
      </p:sp>
      <p:sp>
        <p:nvSpPr>
          <p:cNvPr id="50" name="圓角矩形 49"/>
          <p:cNvSpPr/>
          <p:nvPr/>
        </p:nvSpPr>
        <p:spPr>
          <a:xfrm>
            <a:off x="181610" y="5405755"/>
            <a:ext cx="10527665" cy="152146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zh-HK"/>
              <a:t>内核层</a:t>
            </a:r>
            <a:endParaRPr lang="zh-CN" altLang="zh-HK"/>
          </a:p>
        </p:txBody>
      </p:sp>
      <p:sp>
        <p:nvSpPr>
          <p:cNvPr id="51" name="矩形 50"/>
          <p:cNvSpPr/>
          <p:nvPr/>
        </p:nvSpPr>
        <p:spPr>
          <a:xfrm>
            <a:off x="2172970" y="5467350"/>
            <a:ext cx="1687830" cy="13906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52" name="圓角矩形 51"/>
          <p:cNvSpPr/>
          <p:nvPr/>
        </p:nvSpPr>
        <p:spPr>
          <a:xfrm>
            <a:off x="2626995" y="3699510"/>
            <a:ext cx="727710" cy="3746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200"/>
              <a:t>TCP</a:t>
            </a:r>
            <a:endParaRPr lang="en-US" altLang="zh-HK" sz="1200"/>
          </a:p>
        </p:txBody>
      </p:sp>
      <p:sp>
        <p:nvSpPr>
          <p:cNvPr id="53" name="文字框 52"/>
          <p:cNvSpPr txBox="1"/>
          <p:nvPr/>
        </p:nvSpPr>
        <p:spPr>
          <a:xfrm>
            <a:off x="2516505" y="3275330"/>
            <a:ext cx="10718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HK" sz="1400"/>
              <a:t>网络传输</a:t>
            </a:r>
            <a:endParaRPr lang="zh-CN" altLang="zh-HK" sz="1400"/>
          </a:p>
        </p:txBody>
      </p:sp>
      <p:sp>
        <p:nvSpPr>
          <p:cNvPr id="54" name="圓角矩形 53"/>
          <p:cNvSpPr/>
          <p:nvPr/>
        </p:nvSpPr>
        <p:spPr>
          <a:xfrm>
            <a:off x="2572385" y="4505325"/>
            <a:ext cx="782320" cy="3702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200"/>
              <a:t>网络</a:t>
            </a:r>
            <a:r>
              <a:rPr lang="en-US" altLang="zh-CN" sz="1200"/>
              <a:t>IO</a:t>
            </a:r>
            <a:endParaRPr lang="en-US" altLang="zh-CN" sz="1200"/>
          </a:p>
        </p:txBody>
      </p:sp>
      <p:sp>
        <p:nvSpPr>
          <p:cNvPr id="55" name="文字框 54"/>
          <p:cNvSpPr txBox="1"/>
          <p:nvPr/>
        </p:nvSpPr>
        <p:spPr>
          <a:xfrm>
            <a:off x="1536700" y="3275330"/>
            <a:ext cx="7651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HK" sz="1400"/>
              <a:t>协议层</a:t>
            </a:r>
            <a:endParaRPr lang="zh-CN" altLang="zh-HK" sz="1400"/>
          </a:p>
        </p:txBody>
      </p:sp>
      <p:sp>
        <p:nvSpPr>
          <p:cNvPr id="57" name="矩形 56"/>
          <p:cNvSpPr/>
          <p:nvPr/>
        </p:nvSpPr>
        <p:spPr>
          <a:xfrm>
            <a:off x="10004425" y="2648585"/>
            <a:ext cx="628650" cy="25514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后期增加</a:t>
            </a:r>
            <a:r>
              <a:rPr lang="en-US" altLang="zh-HK" dirty="0" smtClean="0"/>
              <a:t>GPU</a:t>
            </a:r>
            <a:r>
              <a:rPr lang="zh-CN" altLang="en-US" dirty="0" smtClean="0"/>
              <a:t>模块</a:t>
            </a:r>
            <a:endParaRPr lang="zh-CN" altLang="en-US" dirty="0"/>
          </a:p>
        </p:txBody>
      </p:sp>
      <p:sp>
        <p:nvSpPr>
          <p:cNvPr id="58" name="圓角矩形 57"/>
          <p:cNvSpPr/>
          <p:nvPr/>
        </p:nvSpPr>
        <p:spPr>
          <a:xfrm>
            <a:off x="1568450" y="3648710"/>
            <a:ext cx="733425" cy="7632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200"/>
              <a:t>高效压缩数据格式</a:t>
            </a:r>
            <a:endParaRPr lang="zh-CN" altLang="zh-HK" sz="1200"/>
          </a:p>
        </p:txBody>
      </p:sp>
      <p:sp>
        <p:nvSpPr>
          <p:cNvPr id="59" name="文字框 58"/>
          <p:cNvSpPr txBox="1"/>
          <p:nvPr/>
        </p:nvSpPr>
        <p:spPr>
          <a:xfrm>
            <a:off x="8842375" y="3213100"/>
            <a:ext cx="10064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HK" sz="1200"/>
              <a:t>网络传输</a:t>
            </a:r>
            <a:endParaRPr lang="zh-CN" altLang="zh-HK" sz="1200"/>
          </a:p>
        </p:txBody>
      </p:sp>
      <p:sp>
        <p:nvSpPr>
          <p:cNvPr id="60" name="圓角矩形 59"/>
          <p:cNvSpPr/>
          <p:nvPr/>
        </p:nvSpPr>
        <p:spPr>
          <a:xfrm>
            <a:off x="8975090" y="3582035"/>
            <a:ext cx="741680" cy="3575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UDP</a:t>
            </a:r>
            <a:endParaRPr lang="zh-CN" altLang="en-US" sz="1200"/>
          </a:p>
        </p:txBody>
      </p:sp>
      <p:sp>
        <p:nvSpPr>
          <p:cNvPr id="61" name="圓角矩形 60"/>
          <p:cNvSpPr/>
          <p:nvPr/>
        </p:nvSpPr>
        <p:spPr>
          <a:xfrm>
            <a:off x="8921115" y="4518025"/>
            <a:ext cx="741680" cy="3575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网络</a:t>
            </a:r>
            <a:r>
              <a:rPr lang="en-US" altLang="zh-CN" sz="1200"/>
              <a:t>IO</a:t>
            </a:r>
            <a:endParaRPr lang="en-US" altLang="zh-CN" sz="1200"/>
          </a:p>
        </p:txBody>
      </p:sp>
      <p:sp>
        <p:nvSpPr>
          <p:cNvPr id="62" name="文字框 61"/>
          <p:cNvSpPr txBox="1"/>
          <p:nvPr/>
        </p:nvSpPr>
        <p:spPr>
          <a:xfrm>
            <a:off x="7839075" y="3181985"/>
            <a:ext cx="7207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HK" sz="1400"/>
              <a:t>协议层</a:t>
            </a:r>
            <a:endParaRPr lang="zh-CN" altLang="zh-HK" sz="1400"/>
          </a:p>
        </p:txBody>
      </p:sp>
      <p:sp>
        <p:nvSpPr>
          <p:cNvPr id="63" name="圓角矩形 62"/>
          <p:cNvSpPr/>
          <p:nvPr/>
        </p:nvSpPr>
        <p:spPr>
          <a:xfrm>
            <a:off x="7814945" y="3582035"/>
            <a:ext cx="684530" cy="3232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200"/>
              <a:t>P2P</a:t>
            </a:r>
            <a:endParaRPr lang="en-US" altLang="zh-HK" sz="1200"/>
          </a:p>
        </p:txBody>
      </p:sp>
      <p:sp>
        <p:nvSpPr>
          <p:cNvPr id="64" name="圓角矩形 63"/>
          <p:cNvSpPr/>
          <p:nvPr/>
        </p:nvSpPr>
        <p:spPr>
          <a:xfrm>
            <a:off x="7758112" y="4166436"/>
            <a:ext cx="899160" cy="3232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丢包处理</a:t>
            </a:r>
            <a:endParaRPr lang="zh-CN" altLang="en-US" sz="1200"/>
          </a:p>
        </p:txBody>
      </p:sp>
      <p:sp>
        <p:nvSpPr>
          <p:cNvPr id="65" name="文字框 64"/>
          <p:cNvSpPr txBox="1"/>
          <p:nvPr/>
        </p:nvSpPr>
        <p:spPr>
          <a:xfrm>
            <a:off x="2731770" y="5542915"/>
            <a:ext cx="5181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HK" sz="1200"/>
              <a:t>容器</a:t>
            </a:r>
            <a:endParaRPr lang="zh-CN" altLang="zh-HK" sz="1200"/>
          </a:p>
        </p:txBody>
      </p:sp>
      <p:sp>
        <p:nvSpPr>
          <p:cNvPr id="66" name="圓角矩形 65"/>
          <p:cNvSpPr/>
          <p:nvPr/>
        </p:nvSpPr>
        <p:spPr>
          <a:xfrm>
            <a:off x="2218055" y="5818505"/>
            <a:ext cx="749300" cy="3352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200"/>
              <a:t>win</a:t>
            </a:r>
            <a:r>
              <a:rPr lang="zh-CN" altLang="en-US" sz="1200"/>
              <a:t>沙盒</a:t>
            </a:r>
            <a:endParaRPr lang="zh-CN" altLang="en-US" sz="1200"/>
          </a:p>
        </p:txBody>
      </p:sp>
      <p:sp>
        <p:nvSpPr>
          <p:cNvPr id="67" name="圓角矩形 66"/>
          <p:cNvSpPr/>
          <p:nvPr/>
        </p:nvSpPr>
        <p:spPr>
          <a:xfrm>
            <a:off x="3030220" y="5818505"/>
            <a:ext cx="806450" cy="3352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android</a:t>
            </a:r>
            <a:r>
              <a:rPr lang="zh-CN" altLang="en-US" sz="1200"/>
              <a:t>容器</a:t>
            </a:r>
            <a:endParaRPr lang="zh-CN" altLang="en-US" sz="1200"/>
          </a:p>
        </p:txBody>
      </p:sp>
      <p:sp>
        <p:nvSpPr>
          <p:cNvPr id="68" name="圓角矩形 67"/>
          <p:cNvSpPr/>
          <p:nvPr/>
        </p:nvSpPr>
        <p:spPr>
          <a:xfrm>
            <a:off x="2247900" y="6376670"/>
            <a:ext cx="718820" cy="3352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200"/>
              <a:t>设备多实例化</a:t>
            </a:r>
            <a:endParaRPr lang="zh-CN" sz="1200"/>
          </a:p>
        </p:txBody>
      </p:sp>
      <p:sp>
        <p:nvSpPr>
          <p:cNvPr id="69" name="圓角矩形 68"/>
          <p:cNvSpPr/>
          <p:nvPr/>
        </p:nvSpPr>
        <p:spPr>
          <a:xfrm>
            <a:off x="3030220" y="6376670"/>
            <a:ext cx="830580" cy="3352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200"/>
              <a:t>资源隔离</a:t>
            </a:r>
            <a:endParaRPr lang="zh-CN" sz="1200"/>
          </a:p>
        </p:txBody>
      </p:sp>
      <p:sp>
        <p:nvSpPr>
          <p:cNvPr id="70" name="矩形 69"/>
          <p:cNvSpPr/>
          <p:nvPr/>
        </p:nvSpPr>
        <p:spPr>
          <a:xfrm>
            <a:off x="6178550" y="5467350"/>
            <a:ext cx="3185160" cy="146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1" name="文字框 70"/>
          <p:cNvSpPr txBox="1"/>
          <p:nvPr/>
        </p:nvSpPr>
        <p:spPr>
          <a:xfrm>
            <a:off x="6797675" y="5467350"/>
            <a:ext cx="20447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HK" sz="1400"/>
              <a:t>云端虚拟设备映射</a:t>
            </a:r>
            <a:endParaRPr lang="zh-CN" altLang="zh-HK" sz="1400"/>
          </a:p>
        </p:txBody>
      </p:sp>
      <p:sp>
        <p:nvSpPr>
          <p:cNvPr id="72" name="圓角矩形 71"/>
          <p:cNvSpPr/>
          <p:nvPr/>
        </p:nvSpPr>
        <p:spPr>
          <a:xfrm>
            <a:off x="6283960" y="5835650"/>
            <a:ext cx="1426845" cy="3530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200"/>
              <a:t>虚拟设备通信协议接口</a:t>
            </a:r>
            <a:endParaRPr lang="zh-CN" altLang="zh-HK" sz="1200"/>
          </a:p>
        </p:txBody>
      </p:sp>
      <p:sp>
        <p:nvSpPr>
          <p:cNvPr id="73" name="圓角矩形 72"/>
          <p:cNvSpPr/>
          <p:nvPr/>
        </p:nvSpPr>
        <p:spPr>
          <a:xfrm>
            <a:off x="7983220" y="5835650"/>
            <a:ext cx="1257300" cy="3530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200"/>
              <a:t>设备虚拟化</a:t>
            </a:r>
            <a:endParaRPr lang="zh-CN" altLang="zh-HK" sz="1200"/>
          </a:p>
        </p:txBody>
      </p:sp>
      <p:sp>
        <p:nvSpPr>
          <p:cNvPr id="74" name="圓角矩形 73"/>
          <p:cNvSpPr/>
          <p:nvPr/>
        </p:nvSpPr>
        <p:spPr>
          <a:xfrm>
            <a:off x="6283960" y="6421755"/>
            <a:ext cx="1426845" cy="3530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200"/>
              <a:t>外设设备数据注入</a:t>
            </a:r>
            <a:endParaRPr lang="zh-CN" altLang="zh-HK" sz="1200"/>
          </a:p>
        </p:txBody>
      </p:sp>
      <p:sp>
        <p:nvSpPr>
          <p:cNvPr id="75" name="圓角矩形 74"/>
          <p:cNvSpPr/>
          <p:nvPr/>
        </p:nvSpPr>
        <p:spPr>
          <a:xfrm>
            <a:off x="7839075" y="6421755"/>
            <a:ext cx="1426845" cy="3530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200"/>
              <a:t>设备地址空间转换</a:t>
            </a:r>
            <a:endParaRPr lang="zh-CN" altLang="zh-HK" sz="1200"/>
          </a:p>
        </p:txBody>
      </p:sp>
      <p:sp>
        <p:nvSpPr>
          <p:cNvPr id="76" name="圓角矩形 75"/>
          <p:cNvSpPr/>
          <p:nvPr/>
        </p:nvSpPr>
        <p:spPr>
          <a:xfrm>
            <a:off x="10633710" y="415925"/>
            <a:ext cx="1501140" cy="196215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7" name="文字框 76"/>
          <p:cNvSpPr txBox="1"/>
          <p:nvPr/>
        </p:nvSpPr>
        <p:spPr>
          <a:xfrm>
            <a:off x="10807065" y="58166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HK" sz="1400">
                <a:solidFill>
                  <a:schemeClr val="bg1"/>
                </a:solidFill>
              </a:rPr>
              <a:t>大数据平台</a:t>
            </a:r>
            <a:endParaRPr lang="zh-CN" altLang="zh-HK" sz="1400">
              <a:solidFill>
                <a:schemeClr val="bg1"/>
              </a:solidFill>
            </a:endParaRPr>
          </a:p>
        </p:txBody>
      </p:sp>
      <p:sp>
        <p:nvSpPr>
          <p:cNvPr id="79" name="圓角矩形 78"/>
          <p:cNvSpPr/>
          <p:nvPr/>
        </p:nvSpPr>
        <p:spPr>
          <a:xfrm>
            <a:off x="10793095" y="982980"/>
            <a:ext cx="1182370" cy="2406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200"/>
              <a:t>大数据接口层</a:t>
            </a:r>
            <a:endParaRPr lang="zh-CN" altLang="zh-HK" sz="1200"/>
          </a:p>
        </p:txBody>
      </p:sp>
      <p:sp>
        <p:nvSpPr>
          <p:cNvPr id="80" name="圓角矩形 79"/>
          <p:cNvSpPr/>
          <p:nvPr/>
        </p:nvSpPr>
        <p:spPr>
          <a:xfrm>
            <a:off x="10793095" y="1842135"/>
            <a:ext cx="1182370" cy="4292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200"/>
              <a:t>大数据存储</a:t>
            </a:r>
            <a:endParaRPr lang="zh-CN" altLang="zh-HK" sz="1200"/>
          </a:p>
        </p:txBody>
      </p:sp>
      <p:sp>
        <p:nvSpPr>
          <p:cNvPr id="81" name="圓角矩形 80"/>
          <p:cNvSpPr/>
          <p:nvPr/>
        </p:nvSpPr>
        <p:spPr>
          <a:xfrm>
            <a:off x="10709275" y="1452245"/>
            <a:ext cx="1398270" cy="2406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200"/>
              <a:t>数据处理与分析</a:t>
            </a:r>
            <a:endParaRPr lang="zh-CN" altLang="zh-HK" sz="1200"/>
          </a:p>
        </p:txBody>
      </p:sp>
      <p:sp>
        <p:nvSpPr>
          <p:cNvPr id="82" name="圓角矩形 81"/>
          <p:cNvSpPr/>
          <p:nvPr/>
        </p:nvSpPr>
        <p:spPr>
          <a:xfrm>
            <a:off x="10739755" y="2537460"/>
            <a:ext cx="1440180" cy="4307205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3" name="文字框 82"/>
          <p:cNvSpPr txBox="1"/>
          <p:nvPr/>
        </p:nvSpPr>
        <p:spPr>
          <a:xfrm>
            <a:off x="10891520" y="2849880"/>
            <a:ext cx="12153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HK" sz="1200">
                <a:solidFill>
                  <a:schemeClr val="bg1"/>
                </a:solidFill>
              </a:rPr>
              <a:t>智能运营平台</a:t>
            </a:r>
            <a:endParaRPr lang="zh-CN" altLang="zh-HK" sz="1200">
              <a:solidFill>
                <a:schemeClr val="bg1"/>
              </a:solidFill>
            </a:endParaRPr>
          </a:p>
        </p:txBody>
      </p:sp>
      <p:sp>
        <p:nvSpPr>
          <p:cNvPr id="84" name="圓角矩形 83"/>
          <p:cNvSpPr/>
          <p:nvPr/>
        </p:nvSpPr>
        <p:spPr>
          <a:xfrm>
            <a:off x="10891520" y="3275330"/>
            <a:ext cx="1091565" cy="2978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000"/>
              <a:t>统一门户入口</a:t>
            </a:r>
            <a:endParaRPr lang="zh-CN" altLang="zh-HK" sz="1000"/>
          </a:p>
        </p:txBody>
      </p:sp>
      <p:sp>
        <p:nvSpPr>
          <p:cNvPr id="85" name="圓角矩形 84"/>
          <p:cNvSpPr/>
          <p:nvPr/>
        </p:nvSpPr>
        <p:spPr>
          <a:xfrm>
            <a:off x="10891520" y="3700145"/>
            <a:ext cx="1091565" cy="2978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000"/>
              <a:t>集中报警平台</a:t>
            </a:r>
            <a:endParaRPr lang="zh-CN" altLang="zh-HK" sz="1000"/>
          </a:p>
        </p:txBody>
      </p:sp>
      <p:sp>
        <p:nvSpPr>
          <p:cNvPr id="86" name="圓角矩形 85"/>
          <p:cNvSpPr/>
          <p:nvPr/>
        </p:nvSpPr>
        <p:spPr>
          <a:xfrm>
            <a:off x="10891520" y="4207510"/>
            <a:ext cx="1091565" cy="2978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000"/>
              <a:t>服务流程管理</a:t>
            </a:r>
            <a:endParaRPr lang="zh-CN" altLang="zh-HK" sz="1000"/>
          </a:p>
        </p:txBody>
      </p:sp>
      <p:sp>
        <p:nvSpPr>
          <p:cNvPr id="87" name="圓角矩形 86"/>
          <p:cNvSpPr/>
          <p:nvPr/>
        </p:nvSpPr>
        <p:spPr>
          <a:xfrm>
            <a:off x="10891520" y="4652010"/>
            <a:ext cx="1091565" cy="2978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000"/>
              <a:t>配置中心</a:t>
            </a:r>
            <a:endParaRPr lang="zh-CN" altLang="zh-HK" sz="1000"/>
          </a:p>
        </p:txBody>
      </p:sp>
      <p:sp>
        <p:nvSpPr>
          <p:cNvPr id="88" name="圓角矩形 87"/>
          <p:cNvSpPr/>
          <p:nvPr/>
        </p:nvSpPr>
        <p:spPr>
          <a:xfrm>
            <a:off x="10914380" y="5169535"/>
            <a:ext cx="1091565" cy="2978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1000"/>
              <a:t>资产管理</a:t>
            </a:r>
            <a:endParaRPr lang="zh-CN" altLang="zh-HK" sz="1000"/>
          </a:p>
        </p:txBody>
      </p:sp>
      <p:sp>
        <p:nvSpPr>
          <p:cNvPr id="89" name="圓角矩形 88"/>
          <p:cNvSpPr/>
          <p:nvPr/>
        </p:nvSpPr>
        <p:spPr>
          <a:xfrm>
            <a:off x="10914380" y="5685790"/>
            <a:ext cx="1091565" cy="2978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HK" sz="800"/>
              <a:t>数据及消息中间件</a:t>
            </a:r>
            <a:endParaRPr lang="zh-CN" altLang="zh-HK" sz="800"/>
          </a:p>
        </p:txBody>
      </p:sp>
      <p:sp>
        <p:nvSpPr>
          <p:cNvPr id="90" name="圓角矩形 63"/>
          <p:cNvSpPr/>
          <p:nvPr/>
        </p:nvSpPr>
        <p:spPr>
          <a:xfrm>
            <a:off x="7770325" y="4649214"/>
            <a:ext cx="899160" cy="3232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KCP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19432"/>
            <a:ext cx="10515600" cy="5138996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流程图: 过程 4"/>
          <p:cNvSpPr/>
          <p:nvPr/>
        </p:nvSpPr>
        <p:spPr>
          <a:xfrm>
            <a:off x="1161535" y="1062680"/>
            <a:ext cx="3898557" cy="393562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304534" y="1062681"/>
            <a:ext cx="1952368" cy="3608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CRTC SDK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263478" y="1748481"/>
            <a:ext cx="1847335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Media Engine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161785" y="1748481"/>
            <a:ext cx="1847335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Transport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468908" y="2231013"/>
            <a:ext cx="1280471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Codec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468908" y="2633752"/>
            <a:ext cx="1231043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Capture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468907" y="3033893"/>
            <a:ext cx="1231043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Render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382146" y="2186849"/>
            <a:ext cx="1231043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UDP/TCP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382145" y="2591829"/>
            <a:ext cx="1231043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RSFEC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3382144" y="3001443"/>
            <a:ext cx="1231043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NACK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444193" y="3475249"/>
            <a:ext cx="1231043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Process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3394755" y="3439811"/>
            <a:ext cx="1231043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BWE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1468906" y="3957781"/>
            <a:ext cx="1231043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Coding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3351761" y="3957781"/>
            <a:ext cx="1535336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Signal V1/V2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5371581" y="1032098"/>
            <a:ext cx="4028303" cy="40279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6422165" y="1166157"/>
            <a:ext cx="2032174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CRTC  Streamer</a:t>
            </a:r>
            <a:endParaRPr lang="en-US" altLang="zh-CN" dirty="0" smtClean="0"/>
          </a:p>
        </p:txBody>
      </p:sp>
      <p:sp>
        <p:nvSpPr>
          <p:cNvPr id="21" name="矩形 20"/>
          <p:cNvSpPr/>
          <p:nvPr/>
        </p:nvSpPr>
        <p:spPr>
          <a:xfrm>
            <a:off x="5680500" y="1871752"/>
            <a:ext cx="1741789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Video Engine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5680500" y="2434211"/>
            <a:ext cx="1780919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Config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5680500" y="2996670"/>
            <a:ext cx="1780919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ScreenCap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5680499" y="3488224"/>
            <a:ext cx="1780919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Data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7690536" y="1906029"/>
            <a:ext cx="1527605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Live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7767247" y="2434211"/>
            <a:ext cx="1326808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Transport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7767247" y="2996670"/>
            <a:ext cx="1245969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AudioCap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7815649" y="3475248"/>
            <a:ext cx="1278406" cy="315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Virtual Dev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10398211" y="1810265"/>
            <a:ext cx="914400" cy="49427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CDN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10193679" y="3125550"/>
            <a:ext cx="1013254" cy="17121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Cloud Computer App</a:t>
            </a:r>
            <a:endParaRPr lang="zh-CN" altLang="en-US" dirty="0"/>
          </a:p>
        </p:txBody>
      </p:sp>
      <p:sp>
        <p:nvSpPr>
          <p:cNvPr id="31" name="左右箭头 30"/>
          <p:cNvSpPr/>
          <p:nvPr/>
        </p:nvSpPr>
        <p:spPr>
          <a:xfrm>
            <a:off x="4785666" y="2009769"/>
            <a:ext cx="942202" cy="39098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Video</a:t>
            </a:r>
            <a:endParaRPr lang="zh-CN" altLang="en-US" dirty="0"/>
          </a:p>
        </p:txBody>
      </p:sp>
      <p:sp>
        <p:nvSpPr>
          <p:cNvPr id="32" name="左右箭头 31"/>
          <p:cNvSpPr/>
          <p:nvPr/>
        </p:nvSpPr>
        <p:spPr>
          <a:xfrm>
            <a:off x="4812443" y="2828090"/>
            <a:ext cx="942202" cy="39098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Audio</a:t>
            </a:r>
            <a:endParaRPr lang="zh-CN" altLang="en-US" dirty="0"/>
          </a:p>
        </p:txBody>
      </p:sp>
      <p:sp>
        <p:nvSpPr>
          <p:cNvPr id="34" name="左右箭头 33"/>
          <p:cNvSpPr/>
          <p:nvPr/>
        </p:nvSpPr>
        <p:spPr>
          <a:xfrm>
            <a:off x="4753613" y="3420661"/>
            <a:ext cx="942202" cy="39098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Data</a:t>
            </a:r>
            <a:endParaRPr lang="zh-CN" altLang="en-US" dirty="0"/>
          </a:p>
        </p:txBody>
      </p:sp>
      <p:sp>
        <p:nvSpPr>
          <p:cNvPr id="35" name="右箭头 34"/>
          <p:cNvSpPr/>
          <p:nvPr/>
        </p:nvSpPr>
        <p:spPr>
          <a:xfrm>
            <a:off x="9259263" y="1889965"/>
            <a:ext cx="1075037" cy="331161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RTMP</a:t>
            </a:r>
            <a:endParaRPr lang="zh-CN" altLang="en-US" dirty="0"/>
          </a:p>
        </p:txBody>
      </p:sp>
      <p:sp>
        <p:nvSpPr>
          <p:cNvPr id="36" name="左右箭头 35"/>
          <p:cNvSpPr/>
          <p:nvPr/>
        </p:nvSpPr>
        <p:spPr>
          <a:xfrm>
            <a:off x="9146568" y="3018396"/>
            <a:ext cx="1274810" cy="91370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Dev Data</a:t>
            </a:r>
            <a:endParaRPr lang="zh-CN" altLang="en-US" dirty="0"/>
          </a:p>
        </p:txBody>
      </p:sp>
      <p:sp>
        <p:nvSpPr>
          <p:cNvPr id="37" name="左右箭头 36"/>
          <p:cNvSpPr/>
          <p:nvPr/>
        </p:nvSpPr>
        <p:spPr>
          <a:xfrm>
            <a:off x="8930327" y="4083470"/>
            <a:ext cx="1470454" cy="82525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Media 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用户体验的评测指标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223319" y="2310714"/>
            <a:ext cx="2397211" cy="10935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用户联通率（按入系统的成功率）</a:t>
            </a:r>
            <a:endParaRPr lang="zh-CN" altLang="en-US" dirty="0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897394" y="2310713"/>
            <a:ext cx="2397211" cy="10935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首帧时长（云电脑启动时长）</a:t>
            </a:r>
            <a:endParaRPr lang="zh-CN" altLang="en-US" dirty="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8135893" y="2432221"/>
            <a:ext cx="2397211" cy="10935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响应时延（操控响应速度）</a:t>
            </a:r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300550" y="4132389"/>
            <a:ext cx="2397211" cy="10935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清晰度（画质质量）</a:t>
            </a:r>
            <a:endParaRPr lang="zh-CN" altLang="en-US" dirty="0"/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4716162" y="4085968"/>
            <a:ext cx="2397211" cy="10935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卡顿率（流畅度）</a:t>
            </a:r>
            <a:endParaRPr lang="zh-CN" altLang="en-US" dirty="0"/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8131774" y="4132390"/>
            <a:ext cx="2397211" cy="10935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帧率（流畅度）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首帧时长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5033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877028" y="2414916"/>
            <a:ext cx="120478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采集游戏画面</a:t>
            </a:r>
            <a:r>
              <a:rPr lang="zh-CN" altLang="en-US" dirty="0" smtClean="0"/>
              <a:t>时延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66069" y="2370192"/>
            <a:ext cx="116153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视频编码时延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211907" y="2414916"/>
            <a:ext cx="116153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RTC</a:t>
            </a:r>
            <a:r>
              <a:rPr lang="zh-CN" altLang="en-US" dirty="0" smtClean="0"/>
              <a:t>传输时延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030409" y="2414916"/>
            <a:ext cx="116153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视频解码时延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8695436" y="2414916"/>
            <a:ext cx="116153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渲染时延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首帧时长优化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262418" y="1767385"/>
            <a:ext cx="8987051" cy="15198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650241" y="1971062"/>
            <a:ext cx="1119116" cy="9348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预处理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262418" y="5192112"/>
            <a:ext cx="8987051" cy="1307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262418" y="3478562"/>
            <a:ext cx="8987051" cy="1307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610434" y="3671923"/>
            <a:ext cx="111911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并行启动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610434" y="5393816"/>
            <a:ext cx="111911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接入优化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30472" y="1826442"/>
            <a:ext cx="5732060" cy="3422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实例和云电脑优化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3830472" y="2225182"/>
            <a:ext cx="5732060" cy="3422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编码器预启动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3830472" y="2587626"/>
            <a:ext cx="5732060" cy="3422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网络预连接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3830472" y="2966375"/>
            <a:ext cx="5732060" cy="3422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云电脑启动时长减去</a:t>
            </a:r>
            <a:r>
              <a:rPr lang="en-US" altLang="zh-CN" dirty="0" smtClean="0"/>
              <a:t>80%</a:t>
            </a:r>
            <a:r>
              <a:rPr lang="zh-CN" altLang="en-US" dirty="0" smtClean="0"/>
              <a:t>、首帧启动时间缩短</a:t>
            </a:r>
            <a:r>
              <a:rPr lang="en-US" altLang="zh-CN" dirty="0" smtClean="0"/>
              <a:t>40%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3830472" y="3614316"/>
            <a:ext cx="5732060" cy="34223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云电脑启动和</a:t>
            </a:r>
            <a:r>
              <a:rPr lang="en-US" altLang="zh-CN" dirty="0" smtClean="0"/>
              <a:t>CRTC</a:t>
            </a:r>
            <a:r>
              <a:rPr lang="zh-CN" altLang="en-US" dirty="0" smtClean="0"/>
              <a:t>接入并行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3830472" y="4037323"/>
            <a:ext cx="5732060" cy="34223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硬件初始化与云电脑启动并行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3830472" y="4433066"/>
            <a:ext cx="5732060" cy="34223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减少交互方式即过程、优化</a:t>
            </a:r>
            <a:r>
              <a:rPr lang="en-US" altLang="zh-CN" dirty="0" smtClean="0"/>
              <a:t>CRTC</a:t>
            </a:r>
            <a:r>
              <a:rPr lang="zh-CN" altLang="en-US" dirty="0" smtClean="0"/>
              <a:t>接入时间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3830472" y="5333156"/>
            <a:ext cx="5732060" cy="3422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IDC</a:t>
            </a:r>
            <a:r>
              <a:rPr lang="zh-CN" altLang="en-US" dirty="0" smtClean="0"/>
              <a:t>机房广覆盖、降低用户网络连接时延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3833884" y="5739275"/>
            <a:ext cx="5732060" cy="3422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将更多的服务转移到距离用户跟近的</a:t>
            </a:r>
            <a:r>
              <a:rPr lang="en-US" altLang="zh-CN" dirty="0" smtClean="0"/>
              <a:t>IDC</a:t>
            </a:r>
            <a:r>
              <a:rPr lang="zh-CN" altLang="en-US" dirty="0" smtClean="0"/>
              <a:t>机房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3830472" y="6099187"/>
            <a:ext cx="5732060" cy="34223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减少客户端与云端交互次数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zh-CN" altLang="en-US" dirty="0" smtClean="0">
                <a:solidFill>
                  <a:schemeClr val="accent5">
                    <a:lumMod val="75000"/>
                  </a:schemeClr>
                </a:solidFill>
              </a:rPr>
              <a:t>操作时延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6483" y="1788346"/>
            <a:ext cx="10515600" cy="4351338"/>
          </a:xfrm>
          <a:solidFill>
            <a:srgbClr val="0070C0"/>
          </a:solidFill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38535" y="2789648"/>
            <a:ext cx="307075" cy="1828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用户按下按键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624083" y="3309583"/>
            <a:ext cx="914400" cy="307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按键采集</a:t>
            </a:r>
            <a:endParaRPr lang="zh-CN" altLang="en-US" sz="1200" dirty="0"/>
          </a:p>
        </p:txBody>
      </p:sp>
      <p:sp>
        <p:nvSpPr>
          <p:cNvPr id="7" name="文本框 6"/>
          <p:cNvSpPr txBox="1"/>
          <p:nvPr/>
        </p:nvSpPr>
        <p:spPr>
          <a:xfrm>
            <a:off x="1525682" y="2995893"/>
            <a:ext cx="1111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/>
              <a:t>时延平均</a:t>
            </a:r>
            <a:r>
              <a:rPr lang="en-US" altLang="zh-CN" sz="1000" dirty="0" smtClean="0"/>
              <a:t>0~16ms</a:t>
            </a:r>
            <a:endParaRPr lang="zh-CN" altLang="en-US" sz="1000" dirty="0"/>
          </a:p>
        </p:txBody>
      </p:sp>
      <p:sp>
        <p:nvSpPr>
          <p:cNvPr id="9" name="矩形 8"/>
          <p:cNvSpPr/>
          <p:nvPr/>
        </p:nvSpPr>
        <p:spPr>
          <a:xfrm>
            <a:off x="1640602" y="4192600"/>
            <a:ext cx="914400" cy="307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视频显示</a:t>
            </a:r>
            <a:endParaRPr lang="zh-CN" altLang="en-US" sz="1200" dirty="0"/>
          </a:p>
        </p:txBody>
      </p:sp>
      <p:sp>
        <p:nvSpPr>
          <p:cNvPr id="10" name="矩形 9"/>
          <p:cNvSpPr/>
          <p:nvPr/>
        </p:nvSpPr>
        <p:spPr>
          <a:xfrm>
            <a:off x="2790118" y="4228808"/>
            <a:ext cx="914400" cy="307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按键采集</a:t>
            </a:r>
            <a:endParaRPr lang="zh-CN" altLang="en-US" sz="1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1533740" y="4618447"/>
            <a:ext cx="1111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/>
              <a:t>时延平均</a:t>
            </a:r>
            <a:r>
              <a:rPr lang="en-US" altLang="zh-CN" sz="1000" dirty="0" smtClean="0"/>
              <a:t>0~16ms</a:t>
            </a:r>
            <a:endParaRPr lang="zh-CN" altLang="en-US" sz="1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2733164" y="4618447"/>
            <a:ext cx="1111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/>
              <a:t>时延平均</a:t>
            </a:r>
            <a:r>
              <a:rPr lang="en-US" altLang="zh-CN" sz="1000" dirty="0" smtClean="0"/>
              <a:t>4~16ms</a:t>
            </a:r>
            <a:endParaRPr lang="zh-CN" altLang="en-US" sz="1000" dirty="0"/>
          </a:p>
        </p:txBody>
      </p:sp>
      <p:sp>
        <p:nvSpPr>
          <p:cNvPr id="14" name="左大括号 13"/>
          <p:cNvSpPr/>
          <p:nvPr/>
        </p:nvSpPr>
        <p:spPr>
          <a:xfrm>
            <a:off x="1414585" y="3337938"/>
            <a:ext cx="188821" cy="106040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1392063" y="3731364"/>
            <a:ext cx="0" cy="142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938535" y="5361354"/>
            <a:ext cx="914400" cy="281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/>
              <a:t>总响应时延</a:t>
            </a:r>
            <a:endParaRPr lang="zh-CN" altLang="en-US" sz="1100" dirty="0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2538483" y="3423138"/>
            <a:ext cx="1392655" cy="39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8303090" y="3288081"/>
            <a:ext cx="1069327" cy="348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/>
              <a:t>按键输入虚拟外设</a:t>
            </a:r>
            <a:endParaRPr lang="zh-CN" altLang="en-US" sz="1100" dirty="0"/>
          </a:p>
        </p:txBody>
      </p:sp>
      <p:sp>
        <p:nvSpPr>
          <p:cNvPr id="24" name="文本框 23"/>
          <p:cNvSpPr txBox="1"/>
          <p:nvPr/>
        </p:nvSpPr>
        <p:spPr>
          <a:xfrm>
            <a:off x="8414071" y="2985692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/>
              <a:t>时延小于</a:t>
            </a:r>
            <a:r>
              <a:rPr lang="en-US" altLang="zh-CN" sz="1000" dirty="0" smtClean="0"/>
              <a:t>1ms</a:t>
            </a:r>
            <a:endParaRPr lang="zh-CN" altLang="en-US" sz="1000" dirty="0"/>
          </a:p>
        </p:txBody>
      </p:sp>
      <p:sp>
        <p:nvSpPr>
          <p:cNvPr id="26" name="矩形 25"/>
          <p:cNvSpPr/>
          <p:nvPr/>
        </p:nvSpPr>
        <p:spPr>
          <a:xfrm>
            <a:off x="9447549" y="3570669"/>
            <a:ext cx="791987" cy="3933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/>
              <a:t>云电脑响应按键</a:t>
            </a:r>
            <a:endParaRPr lang="zh-CN" altLang="en-US" sz="1100" dirty="0"/>
          </a:p>
        </p:txBody>
      </p:sp>
      <p:sp>
        <p:nvSpPr>
          <p:cNvPr id="27" name="矩形 26"/>
          <p:cNvSpPr/>
          <p:nvPr/>
        </p:nvSpPr>
        <p:spPr>
          <a:xfrm>
            <a:off x="10582031" y="3462215"/>
            <a:ext cx="649262" cy="1156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/>
              <a:t>云电脑响应延迟</a:t>
            </a:r>
            <a:r>
              <a:rPr lang="en-US" altLang="zh-CN" sz="1100" dirty="0" smtClean="0"/>
              <a:t>8~72ms</a:t>
            </a:r>
            <a:endParaRPr lang="zh-CN" altLang="en-US" sz="1100" dirty="0"/>
          </a:p>
        </p:txBody>
      </p:sp>
      <p:sp>
        <p:nvSpPr>
          <p:cNvPr id="29" name="矩形 28"/>
          <p:cNvSpPr/>
          <p:nvPr/>
        </p:nvSpPr>
        <p:spPr>
          <a:xfrm>
            <a:off x="7098313" y="4252338"/>
            <a:ext cx="791987" cy="307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/>
              <a:t>视频编码</a:t>
            </a:r>
            <a:endParaRPr lang="zh-CN" altLang="en-US" sz="1100" dirty="0"/>
          </a:p>
        </p:txBody>
      </p:sp>
      <p:sp>
        <p:nvSpPr>
          <p:cNvPr id="30" name="矩形 29"/>
          <p:cNvSpPr/>
          <p:nvPr/>
        </p:nvSpPr>
        <p:spPr>
          <a:xfrm>
            <a:off x="8324681" y="4252338"/>
            <a:ext cx="791987" cy="307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/>
              <a:t>画面采集</a:t>
            </a:r>
            <a:endParaRPr lang="zh-CN" altLang="en-US" sz="1100" dirty="0"/>
          </a:p>
        </p:txBody>
      </p:sp>
      <p:sp>
        <p:nvSpPr>
          <p:cNvPr id="31" name="矩形 30"/>
          <p:cNvSpPr/>
          <p:nvPr/>
        </p:nvSpPr>
        <p:spPr>
          <a:xfrm>
            <a:off x="9377329" y="4228808"/>
            <a:ext cx="867119" cy="307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/>
              <a:t>云电脑渲染</a:t>
            </a:r>
            <a:endParaRPr lang="zh-CN" altLang="en-US" sz="1100" dirty="0"/>
          </a:p>
        </p:txBody>
      </p:sp>
      <p:cxnSp>
        <p:nvCxnSpPr>
          <p:cNvPr id="34" name="直接箭头连接符 33"/>
          <p:cNvCxnSpPr/>
          <p:nvPr/>
        </p:nvCxnSpPr>
        <p:spPr>
          <a:xfrm flipV="1">
            <a:off x="6882619" y="3440126"/>
            <a:ext cx="1324745" cy="12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endCxn id="26" idx="1"/>
          </p:cNvCxnSpPr>
          <p:nvPr/>
        </p:nvCxnSpPr>
        <p:spPr>
          <a:xfrm>
            <a:off x="9269046" y="3570669"/>
            <a:ext cx="178503" cy="196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9810888" y="3964015"/>
            <a:ext cx="0" cy="228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右大括号 39"/>
          <p:cNvSpPr/>
          <p:nvPr/>
        </p:nvSpPr>
        <p:spPr>
          <a:xfrm>
            <a:off x="10239536" y="3767342"/>
            <a:ext cx="225264" cy="67522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8377994" y="4686686"/>
            <a:ext cx="854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/>
              <a:t>时延</a:t>
            </a:r>
            <a:r>
              <a:rPr lang="en-US" altLang="zh-CN" sz="1000" dirty="0" smtClean="0"/>
              <a:t>0~16ms</a:t>
            </a:r>
            <a:endParaRPr lang="zh-CN" altLang="en-US" sz="1000" dirty="0"/>
          </a:p>
        </p:txBody>
      </p:sp>
      <p:sp>
        <p:nvSpPr>
          <p:cNvPr id="59" name="文本框 58"/>
          <p:cNvSpPr txBox="1"/>
          <p:nvPr/>
        </p:nvSpPr>
        <p:spPr>
          <a:xfrm>
            <a:off x="7089547" y="4741557"/>
            <a:ext cx="7889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/>
              <a:t>时延</a:t>
            </a:r>
            <a:r>
              <a:rPr lang="en-US" altLang="zh-CN" sz="1000" dirty="0" smtClean="0"/>
              <a:t>4~8ms</a:t>
            </a:r>
            <a:endParaRPr lang="zh-CN" altLang="en-US" sz="1000" dirty="0"/>
          </a:p>
        </p:txBody>
      </p:sp>
      <p:sp>
        <p:nvSpPr>
          <p:cNvPr id="63" name="圆角矩形 62"/>
          <p:cNvSpPr/>
          <p:nvPr/>
        </p:nvSpPr>
        <p:spPr>
          <a:xfrm>
            <a:off x="3899603" y="2688441"/>
            <a:ext cx="3143010" cy="25346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4557557" y="282720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约等于网络时延</a:t>
            </a:r>
            <a:endParaRPr lang="zh-CN" altLang="en-US" dirty="0"/>
          </a:p>
        </p:txBody>
      </p:sp>
      <p:sp>
        <p:nvSpPr>
          <p:cNvPr id="66" name="矩形 65"/>
          <p:cNvSpPr/>
          <p:nvPr/>
        </p:nvSpPr>
        <p:spPr>
          <a:xfrm>
            <a:off x="4267545" y="3305497"/>
            <a:ext cx="854267" cy="307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按键发送</a:t>
            </a:r>
            <a:endParaRPr lang="zh-CN" altLang="en-US" sz="1200" dirty="0"/>
          </a:p>
        </p:txBody>
      </p:sp>
      <p:sp>
        <p:nvSpPr>
          <p:cNvPr id="67" name="矩形 66"/>
          <p:cNvSpPr/>
          <p:nvPr/>
        </p:nvSpPr>
        <p:spPr>
          <a:xfrm>
            <a:off x="5899205" y="3278638"/>
            <a:ext cx="786389" cy="307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/>
              <a:t>按键接受</a:t>
            </a:r>
            <a:endParaRPr lang="zh-CN" altLang="en-US" sz="1100" dirty="0"/>
          </a:p>
        </p:txBody>
      </p:sp>
      <p:sp>
        <p:nvSpPr>
          <p:cNvPr id="68" name="矩形 67"/>
          <p:cNvSpPr/>
          <p:nvPr/>
        </p:nvSpPr>
        <p:spPr>
          <a:xfrm>
            <a:off x="4280127" y="4308986"/>
            <a:ext cx="854267" cy="307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视频接受</a:t>
            </a:r>
            <a:endParaRPr lang="zh-CN" altLang="en-US" sz="1200" dirty="0"/>
          </a:p>
        </p:txBody>
      </p:sp>
      <p:sp>
        <p:nvSpPr>
          <p:cNvPr id="69" name="矩形 68"/>
          <p:cNvSpPr/>
          <p:nvPr/>
        </p:nvSpPr>
        <p:spPr>
          <a:xfrm>
            <a:off x="5962056" y="4252338"/>
            <a:ext cx="791987" cy="307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/>
              <a:t>视频发送</a:t>
            </a:r>
            <a:endParaRPr lang="zh-CN" altLang="en-US" sz="1100" dirty="0"/>
          </a:p>
        </p:txBody>
      </p:sp>
      <p:cxnSp>
        <p:nvCxnSpPr>
          <p:cNvPr id="70" name="直接连接符 69"/>
          <p:cNvCxnSpPr/>
          <p:nvPr/>
        </p:nvCxnSpPr>
        <p:spPr>
          <a:xfrm>
            <a:off x="5525477" y="1891323"/>
            <a:ext cx="0" cy="3610708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左箭头 70"/>
          <p:cNvSpPr/>
          <p:nvPr/>
        </p:nvSpPr>
        <p:spPr>
          <a:xfrm>
            <a:off x="2522610" y="4324517"/>
            <a:ext cx="235116" cy="11732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左箭头 72"/>
          <p:cNvSpPr/>
          <p:nvPr/>
        </p:nvSpPr>
        <p:spPr>
          <a:xfrm>
            <a:off x="3808051" y="4358042"/>
            <a:ext cx="415038" cy="1778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左箭头 73"/>
          <p:cNvSpPr/>
          <p:nvPr/>
        </p:nvSpPr>
        <p:spPr>
          <a:xfrm>
            <a:off x="5335784" y="4346137"/>
            <a:ext cx="415038" cy="1778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左箭头 74"/>
          <p:cNvSpPr/>
          <p:nvPr/>
        </p:nvSpPr>
        <p:spPr>
          <a:xfrm>
            <a:off x="6730628" y="4352926"/>
            <a:ext cx="415038" cy="1778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左箭头 75"/>
          <p:cNvSpPr/>
          <p:nvPr/>
        </p:nvSpPr>
        <p:spPr>
          <a:xfrm>
            <a:off x="7888525" y="4309426"/>
            <a:ext cx="415038" cy="1778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左箭头 76"/>
          <p:cNvSpPr/>
          <p:nvPr/>
        </p:nvSpPr>
        <p:spPr>
          <a:xfrm>
            <a:off x="9077941" y="4327592"/>
            <a:ext cx="415038" cy="1778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5318436" y="5320728"/>
            <a:ext cx="2307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约等于网络时延</a:t>
            </a:r>
            <a:r>
              <a:rPr lang="en-US" altLang="zh-CN" dirty="0" smtClean="0"/>
              <a:t>+4ms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80565" y="6054090"/>
            <a:ext cx="5080000" cy="32194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F1115"/>
                </a:solidFill>
                <a:latin typeface="Segoe UI" panose="020B0502040204020203"/>
                <a:ea typeface="SimSun" panose="02010600030101010101" pitchFamily="2" charset="-122"/>
              </a:rPr>
              <a:t> </a:t>
            </a:r>
            <a:endParaRPr lang="en-US" altLang="zh-CN"/>
          </a:p>
        </p:txBody>
      </p:sp>
      <p:graphicFrame>
        <p:nvGraphicFramePr>
          <p:cNvPr id="6" name="表格 5"/>
          <p:cNvGraphicFramePr/>
          <p:nvPr/>
        </p:nvGraphicFramePr>
        <p:xfrm>
          <a:off x="1432878" y="1463040"/>
          <a:ext cx="9326245" cy="0"/>
        </p:xfrm>
        <a:graphic>
          <a:graphicData uri="http://schemas.openxmlformats.org/drawingml/2006/table">
            <a:tbl>
              <a:tblPr/>
              <a:tblGrid>
                <a:gridCol w="847725"/>
                <a:gridCol w="2743200"/>
                <a:gridCol w="5735320"/>
              </a:tblGrid>
              <a:tr h="0"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5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组件</a:t>
                      </a:r>
                      <a:endParaRPr lang="zh-CN" altLang="en-US" sz="110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0" marR="15240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推荐配置</a:t>
                      </a:r>
                      <a:endParaRPr lang="zh-CN" altLang="en-US" sz="110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52400" marR="15240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说明</a:t>
                      </a:r>
                      <a:endParaRPr lang="zh-CN" altLang="en-US" sz="110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52400" marR="15240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CPU</a:t>
                      </a:r>
                      <a:endParaRPr lang="en-US" altLang="zh-CN" sz="1100" b="1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0" marR="15240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10</a:t>
                      </a: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核</a:t>
                      </a: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20</a:t>
                      </a: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线程及以上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（例如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Intel Xeon E5-2680 v2 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或同等性能的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AMD EPYC/Intel 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至强系列）</a:t>
                      </a:r>
                      <a:endParaRPr lang="zh-CN" altLang="en-US" sz="110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52400" marR="15240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纯转发场景下，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CPU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主要负责网络协议处理与流调度。纯粹的推流转发</a:t>
                      </a: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10</a:t>
                      </a: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核</a:t>
                      </a: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20</a:t>
                      </a: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线程已能满足大部分需求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；另一份针对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500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台终端的推荐配置也采用了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Intel E5-2680 V2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处理器</a:t>
                      </a:r>
                      <a:endParaRPr lang="zh-CN" altLang="en-US" sz="110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52400" marR="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内存</a:t>
                      </a:r>
                      <a:endParaRPr lang="zh-CN" altLang="en-US" sz="1100" b="1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0" marR="15240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64 GB DDR4 ECC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（建议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2×32 GB 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或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4×32 GB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，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内存条要新）</a:t>
                      </a:r>
                      <a:endParaRPr lang="zh-CN" altLang="en-US" sz="110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52400" marR="15240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内存用于缓存流数据、维护连接状态。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500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台终端配置推荐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16Gx2</a:t>
                      </a: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及以上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。考虑到系统冗余与并发稳定性，建议升级至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128 GB</a:t>
                      </a:r>
                      <a:endParaRPr lang="en-US" altLang="zh-CN" sz="110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52400" marR="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GPU</a:t>
                      </a:r>
                      <a:endParaRPr lang="en-US" altLang="zh-CN" sz="1100" b="1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0" marR="15240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RTX 1080</a:t>
                      </a: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（</a:t>
                      </a: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8GB</a:t>
                      </a: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）</a:t>
                      </a: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endParaRPr lang="en-US" altLang="zh-CN" sz="1100" b="1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52400" marR="15240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多路视频合并电视墙、算力</a:t>
                      </a:r>
                      <a:endParaRPr lang="zh-CN" altLang="en-US" sz="110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52400" marR="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存储</a:t>
                      </a:r>
                      <a:endParaRPr lang="zh-CN" altLang="en-US" sz="1100" b="1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0" marR="15240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4 TB SDD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（如需录制或缓存）</a:t>
                      </a:r>
                      <a:endParaRPr lang="zh-CN" altLang="en-US" sz="110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52400" marR="15240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系统盘使用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SSD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可提升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IO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性能；数据盘文档资料、录制视频等等选择大容量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SDD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、基础配置要求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4T</a:t>
                      </a: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以上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硬盘</a:t>
                      </a:r>
                      <a:endParaRPr lang="zh-CN" altLang="en-US" sz="110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52400" marR="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网络</a:t>
                      </a:r>
                      <a:endParaRPr lang="zh-CN" altLang="en-US" sz="1100" b="1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0" marR="15240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至少</a:t>
                      </a: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2×1 Gbps </a:t>
                      </a: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网口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（建议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10 Gbps </a:t>
                      </a: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网口，</a:t>
                      </a: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至少两个网口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）</a:t>
                      </a:r>
                      <a:endParaRPr lang="zh-CN" altLang="en-US" sz="110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52400" marR="15240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带宽是视频转发的关键。按每路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720P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流约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2 Mbps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计算，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500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路并发需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约</a:t>
                      </a: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1 Gbps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带宽。为应对码率波动和突发流量，建议预留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2-3 Gbps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的出口带宽，并直接配置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10 Gbps </a:t>
                      </a: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网口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以适应未来扩展</a:t>
                      </a:r>
                      <a:endParaRPr lang="zh-CN" altLang="en-US" sz="110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52400" marR="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电源</a:t>
                      </a:r>
                      <a:endParaRPr lang="zh-CN" altLang="en-US" sz="1100" b="1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0" marR="15240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800 W 80+ Gold</a:t>
                      </a:r>
                      <a:r>
                        <a:rPr lang="en-US" altLang="zh-CN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及以上</a:t>
                      </a:r>
                      <a:endParaRPr lang="zh-CN" altLang="en-US" sz="110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52400" marR="15240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确保稳定供电，并为后续硬件升级留有余量</a:t>
                      </a:r>
                      <a:endParaRPr lang="zh-CN" altLang="en-US" sz="110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52400" marR="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机箱</a:t>
                      </a:r>
                      <a:endParaRPr lang="zh-CN" altLang="en-US" sz="1100" b="1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0" marR="15240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1U/2U </a:t>
                      </a:r>
                      <a:r>
                        <a:rPr lang="zh-CN" altLang="en-US" sz="1100" b="1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机架式服务器</a:t>
                      </a: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（具备良好散热）</a:t>
                      </a:r>
                      <a:endParaRPr lang="zh-CN" altLang="en-US" sz="110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52400" marR="15240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10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便于在机房部署，保证长时间高负载运行</a:t>
                      </a:r>
                      <a:endParaRPr lang="zh-CN" altLang="en-US" sz="110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52400" marR="0" marT="95250" marB="952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" y="0"/>
            <a:ext cx="12301415" cy="1813169"/>
          </a:xfrm>
          <a:solidFill>
            <a:srgbClr val="00B050"/>
          </a:solidFill>
        </p:spPr>
        <p:txBody>
          <a:bodyPr/>
          <a:lstStyle/>
          <a:p>
            <a:r>
              <a:rPr lang="zh-CN" altLang="en-US" dirty="0" smtClean="0"/>
              <a:t>影响时延的关键因素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258645" y="2563447"/>
            <a:ext cx="127390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云电脑渲染时延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029199" y="2571262"/>
            <a:ext cx="1273907" cy="832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视频编解码时延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487137" y="2563447"/>
            <a:ext cx="1273907" cy="832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网络时延和掉包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755292" y="4280268"/>
            <a:ext cx="127390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渲染</a:t>
            </a:r>
            <a:r>
              <a:rPr lang="en-US" altLang="zh-CN" dirty="0" smtClean="0"/>
              <a:t>/</a:t>
            </a:r>
            <a:r>
              <a:rPr lang="zh-CN" altLang="en-US" dirty="0" smtClean="0"/>
              <a:t>显示帧率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596185" y="4268545"/>
            <a:ext cx="127390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按键采集帧率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响应时延优化方法</a:t>
            </a:r>
            <a:r>
              <a:rPr lang="en-US" altLang="zh-CN" dirty="0" smtClean="0"/>
              <a:t>-</a:t>
            </a:r>
            <a:r>
              <a:rPr lang="zh-CN" altLang="en-US" dirty="0" smtClean="0"/>
              <a:t>网络传输时延优化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50092" y="3618523"/>
            <a:ext cx="1844431" cy="719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网络传输优化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543906" y="2239963"/>
            <a:ext cx="1285631" cy="719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网络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543907" y="4626708"/>
            <a:ext cx="1285631" cy="719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数据传输优化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936391" y="1791616"/>
            <a:ext cx="1285631" cy="719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优化</a:t>
            </a:r>
            <a:r>
              <a:rPr lang="en-US" altLang="zh-CN" dirty="0" smtClean="0"/>
              <a:t>IDC</a:t>
            </a:r>
            <a:r>
              <a:rPr lang="zh-CN" altLang="en-US" dirty="0" smtClean="0"/>
              <a:t>机房部署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810369" y="3047574"/>
            <a:ext cx="1285631" cy="719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优化路由策略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830644" y="2257302"/>
            <a:ext cx="1191847" cy="3973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优先选择</a:t>
            </a:r>
            <a:r>
              <a:rPr lang="en-US" altLang="zh-CN" sz="1000" dirty="0" smtClean="0"/>
              <a:t>RTT</a:t>
            </a:r>
            <a:r>
              <a:rPr lang="zh-CN" altLang="en-US" sz="1000" dirty="0" smtClean="0"/>
              <a:t>时延小的机房</a:t>
            </a:r>
            <a:endParaRPr lang="zh-CN" altLang="en-US" sz="1000" dirty="0"/>
          </a:p>
        </p:txBody>
      </p:sp>
      <p:sp>
        <p:nvSpPr>
          <p:cNvPr id="10" name="矩形 9"/>
          <p:cNvSpPr/>
          <p:nvPr/>
        </p:nvSpPr>
        <p:spPr>
          <a:xfrm>
            <a:off x="6951783" y="1655519"/>
            <a:ext cx="949571" cy="345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用户距离</a:t>
            </a:r>
            <a:r>
              <a:rPr lang="en-US" altLang="zh-CN" sz="1000" dirty="0" smtClean="0"/>
              <a:t>IDC</a:t>
            </a:r>
            <a:r>
              <a:rPr lang="zh-CN" altLang="en-US" sz="1000" dirty="0" smtClean="0"/>
              <a:t>不超过</a:t>
            </a:r>
            <a:r>
              <a:rPr lang="en-US" altLang="zh-CN" sz="1000" dirty="0" smtClean="0"/>
              <a:t>400KM</a:t>
            </a:r>
            <a:endParaRPr lang="zh-CN" altLang="en-US" sz="1000" dirty="0"/>
          </a:p>
        </p:txBody>
      </p:sp>
      <p:sp>
        <p:nvSpPr>
          <p:cNvPr id="11" name="矩形 10"/>
          <p:cNvSpPr/>
          <p:nvPr/>
        </p:nvSpPr>
        <p:spPr>
          <a:xfrm>
            <a:off x="8979875" y="1729765"/>
            <a:ext cx="1285631" cy="527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/>
              <a:t>RTT</a:t>
            </a:r>
            <a:r>
              <a:rPr lang="zh-CN" altLang="en-US" sz="1000" dirty="0" smtClean="0"/>
              <a:t>延时控制在</a:t>
            </a:r>
            <a:r>
              <a:rPr lang="en-US" altLang="zh-CN" sz="1000" dirty="0" smtClean="0"/>
              <a:t>40ms</a:t>
            </a:r>
            <a:endParaRPr lang="zh-CN" altLang="en-US" sz="1000" dirty="0"/>
          </a:p>
        </p:txBody>
      </p:sp>
      <p:sp>
        <p:nvSpPr>
          <p:cNvPr id="12" name="矩形 11"/>
          <p:cNvSpPr/>
          <p:nvPr/>
        </p:nvSpPr>
        <p:spPr>
          <a:xfrm>
            <a:off x="6783751" y="3154790"/>
            <a:ext cx="1555264" cy="719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优先选择</a:t>
            </a:r>
            <a:r>
              <a:rPr lang="en-US" altLang="zh-CN" dirty="0" smtClean="0"/>
              <a:t>RTT</a:t>
            </a:r>
            <a:r>
              <a:rPr lang="zh-CN" altLang="en-US" dirty="0" smtClean="0"/>
              <a:t>时延小机房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4810368" y="4313851"/>
            <a:ext cx="1285631" cy="719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增加吞吐量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810368" y="5345723"/>
            <a:ext cx="1285631" cy="719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减少重传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053384" y="4267201"/>
            <a:ext cx="1285631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优化拥塞控制</a:t>
            </a:r>
            <a:endParaRPr lang="zh-CN" altLang="en-US" sz="1000" dirty="0"/>
          </a:p>
        </p:txBody>
      </p:sp>
      <p:sp>
        <p:nvSpPr>
          <p:cNvPr id="16" name="矩形 15"/>
          <p:cNvSpPr/>
          <p:nvPr/>
        </p:nvSpPr>
        <p:spPr>
          <a:xfrm>
            <a:off x="7053384" y="4861169"/>
            <a:ext cx="1285631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基于</a:t>
            </a:r>
            <a:r>
              <a:rPr lang="en-US" altLang="zh-CN" sz="1000" dirty="0" smtClean="0"/>
              <a:t>UDP</a:t>
            </a:r>
            <a:r>
              <a:rPr lang="zh-CN" altLang="en-US" sz="1000" dirty="0" smtClean="0"/>
              <a:t>的传输协议</a:t>
            </a:r>
            <a:endParaRPr lang="zh-CN" altLang="en-US" sz="1000" dirty="0"/>
          </a:p>
        </p:txBody>
      </p:sp>
      <p:sp>
        <p:nvSpPr>
          <p:cNvPr id="17" name="矩形 16"/>
          <p:cNvSpPr/>
          <p:nvPr/>
        </p:nvSpPr>
        <p:spPr>
          <a:xfrm>
            <a:off x="7053383" y="5826369"/>
            <a:ext cx="1285631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/>
              <a:t>ARQ+FEC</a:t>
            </a:r>
            <a:r>
              <a:rPr lang="zh-CN" altLang="en-US" sz="1000" dirty="0" smtClean="0"/>
              <a:t>的</a:t>
            </a:r>
            <a:r>
              <a:rPr lang="en-US" altLang="zh-CN" sz="1000" dirty="0" err="1" smtClean="0"/>
              <a:t>Qos</a:t>
            </a:r>
            <a:r>
              <a:rPr lang="zh-CN" altLang="en-US" sz="1000" dirty="0" smtClean="0"/>
              <a:t>的保护</a:t>
            </a:r>
            <a:endParaRPr lang="zh-CN" altLang="en-US" sz="1000" dirty="0"/>
          </a:p>
        </p:txBody>
      </p:sp>
      <p:sp>
        <p:nvSpPr>
          <p:cNvPr id="18" name="左大括号 17"/>
          <p:cNvSpPr/>
          <p:nvPr/>
        </p:nvSpPr>
        <p:spPr>
          <a:xfrm>
            <a:off x="2157047" y="2719754"/>
            <a:ext cx="250092" cy="2438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左大括号 18"/>
          <p:cNvSpPr/>
          <p:nvPr/>
        </p:nvSpPr>
        <p:spPr>
          <a:xfrm>
            <a:off x="5968024" y="4421067"/>
            <a:ext cx="874149" cy="70240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左大括号 19"/>
          <p:cNvSpPr/>
          <p:nvPr/>
        </p:nvSpPr>
        <p:spPr>
          <a:xfrm>
            <a:off x="5956495" y="1860610"/>
            <a:ext cx="874149" cy="56997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左大括号 20"/>
          <p:cNvSpPr/>
          <p:nvPr/>
        </p:nvSpPr>
        <p:spPr>
          <a:xfrm>
            <a:off x="3882878" y="4505570"/>
            <a:ext cx="874149" cy="128172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左大括号 21"/>
          <p:cNvSpPr/>
          <p:nvPr/>
        </p:nvSpPr>
        <p:spPr>
          <a:xfrm>
            <a:off x="4005385" y="2293815"/>
            <a:ext cx="874149" cy="128172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/>
          <p:cNvCxnSpPr>
            <a:endCxn id="12" idx="1"/>
          </p:cNvCxnSpPr>
          <p:nvPr/>
        </p:nvCxnSpPr>
        <p:spPr>
          <a:xfrm>
            <a:off x="6125895" y="3460873"/>
            <a:ext cx="657856" cy="53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0" idx="3"/>
          </p:cNvCxnSpPr>
          <p:nvPr/>
        </p:nvCxnSpPr>
        <p:spPr>
          <a:xfrm>
            <a:off x="7901354" y="1828129"/>
            <a:ext cx="1016000" cy="165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endCxn id="17" idx="1"/>
          </p:cNvCxnSpPr>
          <p:nvPr/>
        </p:nvCxnSpPr>
        <p:spPr>
          <a:xfrm>
            <a:off x="6125895" y="5705230"/>
            <a:ext cx="927488" cy="359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响应时延优化方法 </a:t>
            </a:r>
            <a:r>
              <a:rPr lang="en-US" altLang="zh-CN" dirty="0" smtClean="0"/>
              <a:t>-  </a:t>
            </a:r>
            <a:r>
              <a:rPr lang="zh-CN" altLang="en-US" dirty="0" smtClean="0"/>
              <a:t>视频编解码优化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07527" y="1531039"/>
            <a:ext cx="1974274" cy="602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编解码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07818" y="2722419"/>
            <a:ext cx="1717964" cy="602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编码标准选择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2050474" y="2722419"/>
            <a:ext cx="1433944" cy="602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全</a:t>
            </a:r>
            <a:r>
              <a:rPr lang="en-US" altLang="zh-CN" dirty="0" smtClean="0"/>
              <a:t>P</a:t>
            </a:r>
            <a:r>
              <a:rPr lang="zh-CN" altLang="en-US" dirty="0" smtClean="0"/>
              <a:t>帧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733800" y="2722419"/>
            <a:ext cx="1974274" cy="602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Tile-base</a:t>
            </a:r>
            <a:r>
              <a:rPr lang="zh-CN" altLang="en-US" dirty="0" smtClean="0"/>
              <a:t>编码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5957456" y="2722419"/>
            <a:ext cx="1974274" cy="602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硬件编码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8181112" y="2701638"/>
            <a:ext cx="1655615" cy="602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解码器选择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0086109" y="2701638"/>
            <a:ext cx="1974274" cy="602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高</a:t>
            </a:r>
            <a:r>
              <a:rPr lang="zh-CN" altLang="en-US" dirty="0" smtClean="0"/>
              <a:t>阶编码方式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0366663" y="3716267"/>
            <a:ext cx="1413165" cy="471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基于</a:t>
            </a:r>
            <a:r>
              <a:rPr lang="en-US" altLang="zh-CN" sz="1200" dirty="0" smtClean="0"/>
              <a:t>ROI</a:t>
            </a:r>
            <a:r>
              <a:rPr lang="zh-CN" altLang="en-US" sz="1200" dirty="0" smtClean="0"/>
              <a:t>的编码</a:t>
            </a:r>
            <a:endParaRPr lang="zh-CN" altLang="en-US" sz="1200" dirty="0"/>
          </a:p>
        </p:txBody>
      </p:sp>
      <p:sp>
        <p:nvSpPr>
          <p:cNvPr id="15" name="矩形 14"/>
          <p:cNvSpPr/>
          <p:nvPr/>
        </p:nvSpPr>
        <p:spPr>
          <a:xfrm>
            <a:off x="10366663" y="4398819"/>
            <a:ext cx="1413165" cy="394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基于渲染的编码</a:t>
            </a:r>
            <a:endParaRPr lang="zh-CN" altLang="en-US" sz="1200" dirty="0"/>
          </a:p>
        </p:txBody>
      </p:sp>
      <p:sp>
        <p:nvSpPr>
          <p:cNvPr id="16" name="矩形 15"/>
          <p:cNvSpPr/>
          <p:nvPr/>
        </p:nvSpPr>
        <p:spPr>
          <a:xfrm>
            <a:off x="10366663" y="4946074"/>
            <a:ext cx="1413165" cy="394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前处理</a:t>
            </a:r>
            <a:endParaRPr lang="zh-CN" altLang="en-US" sz="1200" dirty="0"/>
          </a:p>
        </p:txBody>
      </p:sp>
      <p:sp>
        <p:nvSpPr>
          <p:cNvPr id="17" name="矩形 16"/>
          <p:cNvSpPr/>
          <p:nvPr/>
        </p:nvSpPr>
        <p:spPr>
          <a:xfrm>
            <a:off x="8302336" y="3705661"/>
            <a:ext cx="1413165" cy="471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时延相同硬解码器优先</a:t>
            </a:r>
            <a:endParaRPr lang="zh-CN" altLang="en-US" sz="1200" dirty="0"/>
          </a:p>
        </p:txBody>
      </p:sp>
      <p:sp>
        <p:nvSpPr>
          <p:cNvPr id="18" name="矩形 17"/>
          <p:cNvSpPr/>
          <p:nvPr/>
        </p:nvSpPr>
        <p:spPr>
          <a:xfrm>
            <a:off x="8302335" y="4471125"/>
            <a:ext cx="1413165" cy="471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硬解延时打，选软解</a:t>
            </a:r>
            <a:endParaRPr lang="zh-CN" altLang="en-US" sz="1200" dirty="0"/>
          </a:p>
        </p:txBody>
      </p:sp>
      <p:sp>
        <p:nvSpPr>
          <p:cNvPr id="19" name="矩形 18"/>
          <p:cNvSpPr/>
          <p:nvPr/>
        </p:nvSpPr>
        <p:spPr>
          <a:xfrm>
            <a:off x="8302334" y="5143501"/>
            <a:ext cx="1413165" cy="471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解码器自适应</a:t>
            </a:r>
            <a:endParaRPr lang="zh-CN" altLang="en-US" sz="1200" dirty="0"/>
          </a:p>
        </p:txBody>
      </p:sp>
      <p:sp>
        <p:nvSpPr>
          <p:cNvPr id="20" name="矩形 19"/>
          <p:cNvSpPr/>
          <p:nvPr/>
        </p:nvSpPr>
        <p:spPr>
          <a:xfrm>
            <a:off x="6182590" y="3716267"/>
            <a:ext cx="1413165" cy="471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时延更低</a:t>
            </a:r>
            <a:endParaRPr lang="zh-CN" altLang="en-US" sz="1200" dirty="0"/>
          </a:p>
        </p:txBody>
      </p:sp>
      <p:sp>
        <p:nvSpPr>
          <p:cNvPr id="21" name="矩形 20"/>
          <p:cNvSpPr/>
          <p:nvPr/>
        </p:nvSpPr>
        <p:spPr>
          <a:xfrm>
            <a:off x="6192978" y="4540829"/>
            <a:ext cx="1413165" cy="471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/>
              <a:t>CPU</a:t>
            </a:r>
            <a:r>
              <a:rPr lang="zh-CN" altLang="en-US" sz="1200" dirty="0" smtClean="0"/>
              <a:t>消耗更低</a:t>
            </a:r>
            <a:endParaRPr lang="zh-CN" altLang="en-US" sz="1200" dirty="0"/>
          </a:p>
        </p:txBody>
      </p:sp>
      <p:sp>
        <p:nvSpPr>
          <p:cNvPr id="22" name="矩形 21"/>
          <p:cNvSpPr/>
          <p:nvPr/>
        </p:nvSpPr>
        <p:spPr>
          <a:xfrm>
            <a:off x="4014354" y="3699164"/>
            <a:ext cx="1413165" cy="471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编码并行处理减少时延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2071253" y="3761079"/>
            <a:ext cx="1413165" cy="471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降低整体数据量</a:t>
            </a:r>
            <a:endParaRPr lang="zh-CN" altLang="en-US" sz="1200" dirty="0"/>
          </a:p>
        </p:txBody>
      </p:sp>
      <p:sp>
        <p:nvSpPr>
          <p:cNvPr id="24" name="矩形 23"/>
          <p:cNvSpPr/>
          <p:nvPr/>
        </p:nvSpPr>
        <p:spPr>
          <a:xfrm>
            <a:off x="2071253" y="4432809"/>
            <a:ext cx="1413165" cy="471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稳定码率输出</a:t>
            </a:r>
            <a:endParaRPr lang="zh-CN" altLang="en-US" sz="1200" dirty="0"/>
          </a:p>
        </p:txBody>
      </p:sp>
      <p:sp>
        <p:nvSpPr>
          <p:cNvPr id="25" name="矩形 24"/>
          <p:cNvSpPr/>
          <p:nvPr/>
        </p:nvSpPr>
        <p:spPr>
          <a:xfrm>
            <a:off x="304797" y="3716266"/>
            <a:ext cx="1413165" cy="471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/>
              <a:t>H264</a:t>
            </a:r>
            <a:r>
              <a:rPr lang="zh-CN" altLang="en-US" sz="1200" dirty="0" smtClean="0"/>
              <a:t>、</a:t>
            </a:r>
            <a:r>
              <a:rPr lang="en-US" altLang="zh-CN" sz="1200" dirty="0" smtClean="0"/>
              <a:t>H265</a:t>
            </a:r>
            <a:r>
              <a:rPr lang="zh-CN" altLang="en-US" sz="1200" dirty="0" smtClean="0"/>
              <a:t>、</a:t>
            </a:r>
            <a:r>
              <a:rPr lang="en-US" altLang="zh-CN" sz="1200" dirty="0" smtClean="0"/>
              <a:t>VP8</a:t>
            </a:r>
            <a:endParaRPr lang="zh-CN" altLang="en-US" sz="1200" dirty="0"/>
          </a:p>
        </p:txBody>
      </p:sp>
      <p:sp>
        <p:nvSpPr>
          <p:cNvPr id="26" name="矩形 25"/>
          <p:cNvSpPr/>
          <p:nvPr/>
        </p:nvSpPr>
        <p:spPr>
          <a:xfrm>
            <a:off x="297868" y="4491476"/>
            <a:ext cx="1413165" cy="471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减少码率，减少发送时延</a:t>
            </a:r>
            <a:endParaRPr lang="zh-CN" altLang="en-US" sz="1200" dirty="0"/>
          </a:p>
        </p:txBody>
      </p:sp>
      <p:cxnSp>
        <p:nvCxnSpPr>
          <p:cNvPr id="28" name="直接箭头连接符 27"/>
          <p:cNvCxnSpPr/>
          <p:nvPr/>
        </p:nvCxnSpPr>
        <p:spPr>
          <a:xfrm>
            <a:off x="838200" y="3394364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928255" y="4177146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2680855" y="3411466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2680855" y="4128009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4613563" y="330431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6913418" y="3400861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6913418" y="4166325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8901546" y="3325091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9033164" y="4094019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8901546" y="4797138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10979727" y="3394364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11090564" y="4080164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10993582" y="463781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7.12511811023626,&quot;left&quot;:295.6359842519685,&quot;top&quot;:183.5567716535433,&quot;width&quot;:344.1822834645669}"/>
</p:tagLst>
</file>

<file path=ppt/tags/tag2.xml><?xml version="1.0" encoding="utf-8"?>
<p:tagLst xmlns:p="http://schemas.openxmlformats.org/presentationml/2006/main">
  <p:tag name="KSO_WM_DIAGRAM_VIRTUALLY_FRAME" val="{&quot;height&quot;:277.12511811023626,&quot;left&quot;:295.6359842519685,&quot;top&quot;:183.5567716535433,&quot;width&quot;:344.1822834645669}"/>
</p:tagLst>
</file>

<file path=ppt/tags/tag3.xml><?xml version="1.0" encoding="utf-8"?>
<p:tagLst xmlns:p="http://schemas.openxmlformats.org/presentationml/2006/main">
  <p:tag name="KSO_WM_DIAGRAM_VIRTUALLY_FRAME" val="{&quot;height&quot;:277.12511811023626,&quot;left&quot;:295.6359842519685,&quot;top&quot;:183.5567716535433,&quot;width&quot;:344.1822834645669}"/>
</p:tagLst>
</file>

<file path=ppt/tags/tag4.xml><?xml version="1.0" encoding="utf-8"?>
<p:tagLst xmlns:p="http://schemas.openxmlformats.org/presentationml/2006/main">
  <p:tag name="KSO_WM_DIAGRAM_VIRTUALLY_FRAME" val="{&quot;height&quot;:277.12511811023626,&quot;left&quot;:295.6359842519685,&quot;top&quot;:183.5567716535433,&quot;width&quot;:344.1822834645669}"/>
</p:tagLst>
</file>

<file path=ppt/tags/tag5.xml><?xml version="1.0" encoding="utf-8"?>
<p:tagLst xmlns:p="http://schemas.openxmlformats.org/presentationml/2006/main">
  <p:tag name="KSO_WM_DIAGRAM_VIRTUALLY_FRAME" val="{&quot;height&quot;:277.12511811023626,&quot;left&quot;:295.6359842519685,&quot;top&quot;:183.5567716535433,&quot;width&quot;:344.1822834645669}"/>
</p:tagLst>
</file>

<file path=ppt/tags/tag6.xml><?xml version="1.0" encoding="utf-8"?>
<p:tagLst xmlns:p="http://schemas.openxmlformats.org/presentationml/2006/main">
  <p:tag name="KSO_WM_DIAGRAM_VIRTUALLY_FRAME" val="{&quot;height&quot;:277.12511811023626,&quot;left&quot;:295.6359842519685,&quot;top&quot;:183.5567716535433,&quot;width&quot;:344.1822834645669}"/>
</p:tagLst>
</file>

<file path=ppt/tags/tag7.xml><?xml version="1.0" encoding="utf-8"?>
<p:tagLst xmlns:p="http://schemas.openxmlformats.org/presentationml/2006/main">
  <p:tag name="KSO_WM_DIAGRAM_VIRTUALLY_FRAME" val="{&quot;height&quot;:277.12511811023626,&quot;left&quot;:295.6359842519685,&quot;top&quot;:183.5567716535433,&quot;width&quot;:344.1822834645669}"/>
</p:tagLst>
</file>

<file path=ppt/tags/tag8.xml><?xml version="1.0" encoding="utf-8"?>
<p:tagLst xmlns:p="http://schemas.openxmlformats.org/presentationml/2006/main">
  <p:tag name="KSO_WM_DIAGRAM_VIRTUALLY_FRAME" val="{&quot;height&quot;:277.12511811023626,&quot;left&quot;:295.6359842519685,&quot;top&quot;:183.5567716535433,&quot;width&quot;:344.1822834645669}"/>
</p:tagLst>
</file>

<file path=ppt/tags/tag9.xml><?xml version="1.0" encoding="utf-8"?>
<p:tagLst xmlns:p="http://schemas.openxmlformats.org/presentationml/2006/main">
  <p:tag name="KSO_WM_DIAGRAM_VIRTUALLY_FRAME" val="{&quot;height&quot;:277.12511811023626,&quot;left&quot;:295.6359842519685,&quot;top&quot;:183.5567716535433,&quot;width&quot;:344.1822834645669}"/>
</p:tagLst>
</file>

<file path=ppt/tags/tag10.xml><?xml version="1.0" encoding="utf-8"?>
<p:tagLst xmlns:p="http://schemas.openxmlformats.org/presentationml/2006/main">
  <p:tag name="KSO_WM_DIAGRAM_VIRTUALLY_FRAME" val="{&quot;height&quot;:277.12511811023626,&quot;left&quot;:295.6359842519685,&quot;top&quot;:183.5567716535433,&quot;width&quot;:344.1822834645669}"/>
</p:tagLst>
</file>

<file path=ppt/tags/tag11.xml><?xml version="1.0" encoding="utf-8"?>
<p:tagLst xmlns:p="http://schemas.openxmlformats.org/presentationml/2006/main">
  <p:tag name="KSO_WM_DIAGRAM_VIRTUALLY_FRAME" val="{&quot;height&quot;:277.12511811023626,&quot;left&quot;:295.6359842519685,&quot;top&quot;:183.5567716535433,&quot;width&quot;:344.1822834645669}"/>
</p:tagLst>
</file>

<file path=ppt/tags/tag12.xml><?xml version="1.0" encoding="utf-8"?>
<p:tagLst xmlns:p="http://schemas.openxmlformats.org/presentationml/2006/main">
  <p:tag name="KSO_WM_DIAGRAM_VIRTUALLY_FRAME" val="{&quot;height&quot;:277.12511811023626,&quot;left&quot;:295.6359842519685,&quot;top&quot;:183.5567716535433,&quot;width&quot;:344.1822834645669}"/>
</p:tagLst>
</file>

<file path=ppt/tags/tag13.xml><?xml version="1.0" encoding="utf-8"?>
<p:tagLst xmlns:p="http://schemas.openxmlformats.org/presentationml/2006/main">
  <p:tag name="KSO_WM_DIAGRAM_VIRTUALLY_FRAME" val="{&quot;height&quot;:277.12511811023626,&quot;left&quot;:295.6359842519685,&quot;top&quot;:183.5567716535433,&quot;width&quot;:344.1822834645669}"/>
</p:tagLst>
</file>

<file path=ppt/tags/tag14.xml><?xml version="1.0" encoding="utf-8"?>
<p:tagLst xmlns:p="http://schemas.openxmlformats.org/presentationml/2006/main">
  <p:tag name="KSO_WM_DIAGRAM_VIRTUALLY_FRAME" val="{&quot;height&quot;:277.12511811023626,&quot;left&quot;:295.6359842519685,&quot;top&quot;:183.5567716535433,&quot;width&quot;:344.1822834645669}"/>
</p:tagLst>
</file>

<file path=ppt/tags/tag15.xml><?xml version="1.0" encoding="utf-8"?>
<p:tagLst xmlns:p="http://schemas.openxmlformats.org/presentationml/2006/main">
  <p:tag name="KSO_WM_DIAGRAM_VIRTUALLY_FRAME" val="{&quot;height&quot;:277.12511811023626,&quot;left&quot;:295.6359842519685,&quot;top&quot;:183.5567716535433,&quot;width&quot;:344.1822834645669}"/>
</p:tagLst>
</file>

<file path=ppt/tags/tag16.xml><?xml version="1.0" encoding="utf-8"?>
<p:tagLst xmlns:p="http://schemas.openxmlformats.org/presentationml/2006/main">
  <p:tag name="KSO_WM_DIAGRAM_VIRTUALLY_FRAME" val="{&quot;height&quot;:277.12511811023626,&quot;left&quot;:295.6359842519685,&quot;top&quot;:183.5567716535433,&quot;width&quot;:344.1822834645669}"/>
</p:tagLst>
</file>

<file path=ppt/tags/tag17.xml><?xml version="1.0" encoding="utf-8"?>
<p:tagLst xmlns:p="http://schemas.openxmlformats.org/presentationml/2006/main">
  <p:tag name="KSO_WM_DIAGRAM_VIRTUALLY_FRAME" val="{&quot;height&quot;:277.12511811023626,&quot;left&quot;:295.6359842519685,&quot;top&quot;:183.5567716535433,&quot;width&quot;:344.1822834645669}"/>
</p:tagLst>
</file>

<file path=ppt/tags/tag18.xml><?xml version="1.0" encoding="utf-8"?>
<p:tagLst xmlns:p="http://schemas.openxmlformats.org/presentationml/2006/main">
  <p:tag name="KSO_WM_DIAGRAM_VIRTUALLY_FRAME" val="{&quot;height&quot;:229.54724409448818,&quot;left&quot;:96.32433070866142,&quot;top&quot;:181.94590551181102,&quot;width&quot;:733.053937007874}"/>
</p:tagLst>
</file>

<file path=ppt/tags/tag19.xml><?xml version="1.0" encoding="utf-8"?>
<p:tagLst xmlns:p="http://schemas.openxmlformats.org/presentationml/2006/main">
  <p:tag name="KSO_WM_DIAGRAM_VIRTUALLY_FRAME" val="{&quot;height&quot;:229.54724409448818,&quot;left&quot;:96.32433070866142,&quot;top&quot;:181.94590551181102,&quot;width&quot;:733.053937007874}"/>
</p:tagLst>
</file>

<file path=ppt/tags/tag20.xml><?xml version="1.0" encoding="utf-8"?>
<p:tagLst xmlns:p="http://schemas.openxmlformats.org/presentationml/2006/main">
  <p:tag name="KSO_WM_DIAGRAM_VIRTUALLY_FRAME" val="{&quot;height&quot;:229.54724409448818,&quot;left&quot;:96.32433070866142,&quot;top&quot;:181.94590551181102,&quot;width&quot;:733.053937007874}"/>
</p:tagLst>
</file>

<file path=ppt/tags/tag21.xml><?xml version="1.0" encoding="utf-8"?>
<p:tagLst xmlns:p="http://schemas.openxmlformats.org/presentationml/2006/main">
  <p:tag name="KSO_WM_DIAGRAM_VIRTUALLY_FRAME" val="{&quot;height&quot;:229.54724409448818,&quot;left&quot;:96.32433070866142,&quot;top&quot;:181.94590551181102,&quot;width&quot;:733.053937007874}"/>
</p:tagLst>
</file>

<file path=ppt/tags/tag22.xml><?xml version="1.0" encoding="utf-8"?>
<p:tagLst xmlns:p="http://schemas.openxmlformats.org/presentationml/2006/main">
  <p:tag name="KSO_WM_DIAGRAM_VIRTUALLY_FRAME" val="{&quot;height&quot;:229.54724409448818,&quot;left&quot;:96.32433070866142,&quot;top&quot;:181.94590551181102,&quot;width&quot;:733.053937007874}"/>
</p:tagLst>
</file>

<file path=ppt/tags/tag23.xml><?xml version="1.0" encoding="utf-8"?>
<p:tagLst xmlns:p="http://schemas.openxmlformats.org/presentationml/2006/main">
  <p:tag name="KSO_WM_DIAGRAM_VIRTUALLY_FRAME" val="{&quot;height&quot;:229.54724409448818,&quot;left&quot;:96.32433070866142,&quot;top&quot;:181.94590551181102,&quot;width&quot;:733.05393700787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2053</Words>
  <Application>WPS 演示</Application>
  <PresentationFormat>宽屏</PresentationFormat>
  <Paragraphs>498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Segoe UI</vt:lpstr>
      <vt:lpstr>Calibri</vt:lpstr>
      <vt:lpstr>Microsoft YaHei</vt:lpstr>
      <vt:lpstr>Arial Unicode MS</vt:lpstr>
      <vt:lpstr>Calibri Light</vt:lpstr>
      <vt:lpstr>PMingLiU</vt:lpstr>
      <vt:lpstr>Segoe Print</vt:lpstr>
      <vt:lpstr>PMingLiU</vt:lpstr>
      <vt:lpstr>Office Theme</vt:lpstr>
      <vt:lpstr>PowerPoint 演示文稿</vt:lpstr>
      <vt:lpstr>云电脑平台架构</vt:lpstr>
      <vt:lpstr>PowerPoint 演示文稿</vt:lpstr>
      <vt:lpstr>用户体验的评测指标</vt:lpstr>
      <vt:lpstr>首帧时长</vt:lpstr>
      <vt:lpstr>首帧时长优化</vt:lpstr>
      <vt:lpstr>操作时延</vt:lpstr>
      <vt:lpstr>PowerPoint 演示文稿</vt:lpstr>
      <vt:lpstr>影响时延的关键因素</vt:lpstr>
      <vt:lpstr>响应时延优化方法-网络传输时延优化</vt:lpstr>
      <vt:lpstr>响应时延优化方法 -  视频编解码优化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故事挺多</cp:lastModifiedBy>
  <cp:revision>136</cp:revision>
  <dcterms:created xsi:type="dcterms:W3CDTF">2025-07-23T00:59:00Z</dcterms:created>
  <dcterms:modified xsi:type="dcterms:W3CDTF">2026-01-16T01:52:19Z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2052-12.1.0.24657</vt:lpwstr>
  </property>
</Properties>
</file>