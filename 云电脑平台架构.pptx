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685" y="140335"/>
            <a:ext cx="3883660" cy="441325"/>
          </a:xfrm>
        </p:spPr>
        <p:txBody>
          <a:bodyPr>
            <a:normAutofit fontScale="90000"/>
          </a:bodyPr>
          <a:lstStyle/>
          <a:p>
            <a:pPr algn="ctr"/>
            <a:r>
              <a:rPr lang="zh-HK" altLang="en-US" sz="3555" dirty="0">
                <a:solidFill>
                  <a:schemeClr val="accent5">
                    <a:lumMod val="75000"/>
                  </a:schemeClr>
                </a:solidFill>
              </a:rPr>
              <a:t>云电脑平台架构</a:t>
            </a:r>
            <a:endParaRPr lang="zh-HK" altLang="en-US" sz="3555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圓角矩形 3"/>
          <p:cNvSpPr/>
          <p:nvPr/>
        </p:nvSpPr>
        <p:spPr>
          <a:xfrm>
            <a:off x="207010" y="556260"/>
            <a:ext cx="4863465" cy="74549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0"/>
              </a:lnSpc>
            </a:pPr>
            <a:r>
              <a:rPr lang="zh-CN" altLang="zh-HK"/>
              <a:t>接口层</a:t>
            </a:r>
            <a:endParaRPr lang="zh-CN" altLang="zh-HK"/>
          </a:p>
        </p:txBody>
      </p: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386715" y="847090"/>
            <a:ext cx="118872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客户主服务</a:t>
            </a:r>
            <a:endParaRPr lang="zh-CN" altLang="en-US" sz="1200" dirty="0"/>
          </a:p>
        </p:txBody>
      </p:sp>
      <p:sp>
        <p:nvSpPr>
          <p:cNvPr id="6" name="矩形 5"/>
          <p:cNvSpPr/>
          <p:nvPr>
            <p:custDataLst>
              <p:tags r:id="rId2"/>
            </p:custDataLst>
          </p:nvPr>
        </p:nvSpPr>
        <p:spPr>
          <a:xfrm>
            <a:off x="3588385" y="847090"/>
            <a:ext cx="137731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SDK</a:t>
            </a:r>
            <a:endParaRPr lang="en-US" altLang="zh-CN" sz="1200" dirty="0"/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1859915" y="847090"/>
            <a:ext cx="149479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API</a:t>
            </a:r>
            <a:endParaRPr lang="en-US" altLang="zh-CN" sz="1200" dirty="0"/>
          </a:p>
        </p:txBody>
      </p:sp>
      <p:sp>
        <p:nvSpPr>
          <p:cNvPr id="11" name="圓角矩形 10"/>
          <p:cNvSpPr/>
          <p:nvPr/>
        </p:nvSpPr>
        <p:spPr>
          <a:xfrm>
            <a:off x="5269865" y="553720"/>
            <a:ext cx="5068570" cy="7480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0"/>
              </a:lnSpc>
            </a:pPr>
            <a:r>
              <a:rPr lang="zh-CN" altLang="zh-HK"/>
              <a:t>管理层</a:t>
            </a:r>
            <a:endParaRPr lang="zh-CN" altLang="zh-HK"/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5302885" y="847090"/>
            <a:ext cx="84899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租户管理</a:t>
            </a:r>
            <a:endParaRPr lang="zh-CN" altLang="en-US" sz="1200" dirty="0"/>
          </a:p>
        </p:txBody>
      </p:sp>
      <p:sp>
        <p:nvSpPr>
          <p:cNvPr id="13" name="矩形 12"/>
          <p:cNvSpPr/>
          <p:nvPr>
            <p:custDataLst>
              <p:tags r:id="rId5"/>
            </p:custDataLst>
          </p:nvPr>
        </p:nvSpPr>
        <p:spPr>
          <a:xfrm>
            <a:off x="6172835" y="847090"/>
            <a:ext cx="89344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用户管理</a:t>
            </a:r>
            <a:endParaRPr lang="zh-CN" altLang="en-US" sz="1200" dirty="0"/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7105650" y="847090"/>
            <a:ext cx="9283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计费管理</a:t>
            </a:r>
            <a:endParaRPr lang="zh-CN" altLang="en-US" sz="1200" dirty="0"/>
          </a:p>
        </p:txBody>
      </p:sp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807593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认证管理</a:t>
            </a:r>
            <a:endParaRPr lang="zh-CN" altLang="en-US" sz="1200" dirty="0"/>
          </a:p>
        </p:txBody>
      </p:sp>
      <p:sp>
        <p:nvSpPr>
          <p:cNvPr id="16" name="圓角矩形 15"/>
          <p:cNvSpPr/>
          <p:nvPr/>
        </p:nvSpPr>
        <p:spPr>
          <a:xfrm>
            <a:off x="207010" y="1368425"/>
            <a:ext cx="10284460" cy="101028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0"/>
              </a:lnSpc>
            </a:pPr>
            <a:r>
              <a:rPr lang="zh-CN" altLang="zh-HK"/>
              <a:t>微服务平台</a:t>
            </a:r>
            <a:endParaRPr lang="zh-CN" altLang="zh-HK"/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17" name="矩形 16"/>
          <p:cNvSpPr/>
          <p:nvPr>
            <p:custDataLst>
              <p:tags r:id="rId8"/>
            </p:custDataLst>
          </p:nvPr>
        </p:nvSpPr>
        <p:spPr>
          <a:xfrm>
            <a:off x="207010" y="1842135"/>
            <a:ext cx="1370965" cy="4546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数据库集群</a:t>
            </a:r>
            <a:endParaRPr lang="zh-CN" altLang="en-US" dirty="0"/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1536700" y="1842135"/>
            <a:ext cx="11950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消息中心</a:t>
            </a:r>
            <a:endParaRPr lang="zh-CN" altLang="en-US" dirty="0"/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2728595" y="1842135"/>
            <a:ext cx="110807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路由调度</a:t>
            </a:r>
            <a:endParaRPr lang="zh-CN" altLang="en-US" dirty="0"/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3789045" y="1842135"/>
            <a:ext cx="1351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微服务治理</a:t>
            </a:r>
            <a:endParaRPr lang="zh-CN" altLang="en-US" dirty="0"/>
          </a:p>
        </p:txBody>
      </p:sp>
      <p:sp>
        <p:nvSpPr>
          <p:cNvPr id="21" name="矩形 20"/>
          <p:cNvSpPr/>
          <p:nvPr>
            <p:custDataLst>
              <p:tags r:id="rId12"/>
            </p:custDataLst>
          </p:nvPr>
        </p:nvSpPr>
        <p:spPr>
          <a:xfrm>
            <a:off x="5070475" y="1842135"/>
            <a:ext cx="114046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监控警告</a:t>
            </a:r>
            <a:endParaRPr lang="zh-CN" altLang="en-US" dirty="0"/>
          </a:p>
        </p:txBody>
      </p:sp>
      <p:sp>
        <p:nvSpPr>
          <p:cNvPr id="22" name="矩形 21"/>
          <p:cNvSpPr/>
          <p:nvPr>
            <p:custDataLst>
              <p:tags r:id="rId13"/>
            </p:custDataLst>
          </p:nvPr>
        </p:nvSpPr>
        <p:spPr>
          <a:xfrm>
            <a:off x="6172835" y="1842135"/>
            <a:ext cx="11480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容灾备份</a:t>
            </a:r>
            <a:endParaRPr lang="zh-CN" altLang="en-US" dirty="0"/>
          </a:p>
        </p:txBody>
      </p:sp>
      <p:sp>
        <p:nvSpPr>
          <p:cNvPr id="23" name="矩形 22"/>
          <p:cNvSpPr/>
          <p:nvPr>
            <p:custDataLst>
              <p:tags r:id="rId14"/>
            </p:custDataLst>
          </p:nvPr>
        </p:nvSpPr>
        <p:spPr>
          <a:xfrm>
            <a:off x="7320915" y="1842135"/>
            <a:ext cx="115125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配置中心</a:t>
            </a:r>
            <a:endParaRPr lang="zh-CN" altLang="en-US" dirty="0"/>
          </a:p>
        </p:txBody>
      </p:sp>
      <p:sp>
        <p:nvSpPr>
          <p:cNvPr id="24" name="矩形 23"/>
          <p:cNvSpPr/>
          <p:nvPr>
            <p:custDataLst>
              <p:tags r:id="rId15"/>
            </p:custDataLst>
          </p:nvPr>
        </p:nvSpPr>
        <p:spPr>
          <a:xfrm>
            <a:off x="8472170" y="1842135"/>
            <a:ext cx="891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控制台</a:t>
            </a:r>
            <a:endParaRPr lang="zh-CN" altLang="en-US" dirty="0"/>
          </a:p>
        </p:txBody>
      </p:sp>
      <p:sp>
        <p:nvSpPr>
          <p:cNvPr id="25" name="矩形 24"/>
          <p:cNvSpPr/>
          <p:nvPr>
            <p:custDataLst>
              <p:tags r:id="rId16"/>
            </p:custDataLst>
          </p:nvPr>
        </p:nvSpPr>
        <p:spPr>
          <a:xfrm>
            <a:off x="9345930" y="1842135"/>
            <a:ext cx="1145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负载均衡</a:t>
            </a:r>
            <a:endParaRPr lang="zh-CN" altLang="en-US" dirty="0"/>
          </a:p>
        </p:txBody>
      </p:sp>
      <p:sp>
        <p:nvSpPr>
          <p:cNvPr id="26" name="圓角矩形 25"/>
          <p:cNvSpPr/>
          <p:nvPr/>
        </p:nvSpPr>
        <p:spPr>
          <a:xfrm>
            <a:off x="207010" y="2494280"/>
            <a:ext cx="10600055" cy="28194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0"/>
              </a:lnSpc>
            </a:pPr>
            <a:r>
              <a:rPr lang="zh-CN" altLang="zh-HK"/>
              <a:t>系统层</a:t>
            </a:r>
            <a:endParaRPr lang="zh-CN" altLang="zh-HK"/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28" name="矩形 27"/>
          <p:cNvSpPr/>
          <p:nvPr/>
        </p:nvSpPr>
        <p:spPr>
          <a:xfrm>
            <a:off x="3705225" y="2609215"/>
            <a:ext cx="3768725" cy="25908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0"/>
              </a:lnSpc>
            </a:pPr>
            <a:endParaRPr lang="en-US" altLang="zh-CN"/>
          </a:p>
        </p:txBody>
      </p:sp>
      <p:sp>
        <p:nvSpPr>
          <p:cNvPr id="29" name="圓角矩形 28"/>
          <p:cNvSpPr/>
          <p:nvPr/>
        </p:nvSpPr>
        <p:spPr>
          <a:xfrm>
            <a:off x="3928110" y="3361055"/>
            <a:ext cx="96139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编码器</a:t>
            </a:r>
            <a:endParaRPr lang="zh-CN" altLang="zh-HK" sz="1200"/>
          </a:p>
        </p:txBody>
      </p:sp>
      <p:sp>
        <p:nvSpPr>
          <p:cNvPr id="30" name="文字框 29"/>
          <p:cNvSpPr txBox="1"/>
          <p:nvPr/>
        </p:nvSpPr>
        <p:spPr>
          <a:xfrm>
            <a:off x="4060825" y="2757170"/>
            <a:ext cx="259588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zh-HK">
                <a:solidFill>
                  <a:schemeClr val="bg1"/>
                </a:solidFill>
              </a:rPr>
              <a:t>实时流媒体系统</a:t>
            </a:r>
            <a:r>
              <a:rPr lang="en-US" altLang="zh-CN">
                <a:solidFill>
                  <a:schemeClr val="bg1"/>
                </a:solidFill>
              </a:rPr>
              <a:t>CRTC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1" name="文字框 30"/>
          <p:cNvSpPr txBox="1"/>
          <p:nvPr/>
        </p:nvSpPr>
        <p:spPr>
          <a:xfrm>
            <a:off x="3928110" y="3043555"/>
            <a:ext cx="1643380" cy="298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HK" sz="1200">
                <a:solidFill>
                  <a:schemeClr val="tx1"/>
                </a:solidFill>
              </a:rPr>
              <a:t>Audio/Video</a:t>
            </a:r>
            <a:endParaRPr lang="en-US" altLang="zh-HK" sz="1200">
              <a:solidFill>
                <a:schemeClr val="tx1"/>
              </a:solidFill>
            </a:endParaRPr>
          </a:p>
        </p:txBody>
      </p:sp>
      <p:sp>
        <p:nvSpPr>
          <p:cNvPr id="33" name="圓角矩形 32"/>
          <p:cNvSpPr/>
          <p:nvPr/>
        </p:nvSpPr>
        <p:spPr>
          <a:xfrm>
            <a:off x="5029835" y="3361690"/>
            <a:ext cx="1143000" cy="3581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图像增强</a:t>
            </a:r>
            <a:endParaRPr lang="zh-CN" altLang="zh-HK" sz="1200"/>
          </a:p>
        </p:txBody>
      </p:sp>
      <p:sp>
        <p:nvSpPr>
          <p:cNvPr id="34" name="圓角矩形 33"/>
          <p:cNvSpPr/>
          <p:nvPr/>
        </p:nvSpPr>
        <p:spPr>
          <a:xfrm>
            <a:off x="3926840" y="3811270"/>
            <a:ext cx="962660" cy="3683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抖动控制</a:t>
            </a:r>
            <a:endParaRPr lang="zh-CN" altLang="zh-HK" sz="1200"/>
          </a:p>
        </p:txBody>
      </p:sp>
      <p:sp>
        <p:nvSpPr>
          <p:cNvPr id="35" name="圓角矩形 34"/>
          <p:cNvSpPr/>
          <p:nvPr/>
        </p:nvSpPr>
        <p:spPr>
          <a:xfrm>
            <a:off x="3926840" y="4294505"/>
            <a:ext cx="96266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预处理</a:t>
            </a:r>
            <a:endParaRPr lang="zh-CN" altLang="zh-HK" sz="1200"/>
          </a:p>
        </p:txBody>
      </p:sp>
      <p:sp>
        <p:nvSpPr>
          <p:cNvPr id="36" name="圓角矩形 35"/>
          <p:cNvSpPr/>
          <p:nvPr/>
        </p:nvSpPr>
        <p:spPr>
          <a:xfrm>
            <a:off x="5029835" y="3822065"/>
            <a:ext cx="114300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音视频同步</a:t>
            </a:r>
            <a:endParaRPr lang="zh-CN" altLang="zh-HK" sz="1200"/>
          </a:p>
        </p:txBody>
      </p:sp>
      <p:sp>
        <p:nvSpPr>
          <p:cNvPr id="37" name="圓角矩形 36"/>
          <p:cNvSpPr/>
          <p:nvPr/>
        </p:nvSpPr>
        <p:spPr>
          <a:xfrm>
            <a:off x="3926840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音视频采集</a:t>
            </a:r>
            <a:endParaRPr lang="zh-CN" altLang="zh-HK" sz="1200"/>
          </a:p>
        </p:txBody>
      </p:sp>
      <p:sp>
        <p:nvSpPr>
          <p:cNvPr id="38" name="圓角矩形 37"/>
          <p:cNvSpPr/>
          <p:nvPr/>
        </p:nvSpPr>
        <p:spPr>
          <a:xfrm>
            <a:off x="507047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渲染</a:t>
            </a:r>
            <a:endParaRPr lang="zh-CN" altLang="zh-HK" sz="1200"/>
          </a:p>
        </p:txBody>
      </p:sp>
      <p:sp>
        <p:nvSpPr>
          <p:cNvPr id="39" name="文字框 38"/>
          <p:cNvSpPr txBox="1"/>
          <p:nvPr/>
        </p:nvSpPr>
        <p:spPr>
          <a:xfrm>
            <a:off x="6464300" y="3043555"/>
            <a:ext cx="11696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200"/>
              <a:t>网络传输</a:t>
            </a:r>
            <a:endParaRPr lang="zh-CN" altLang="zh-HK" sz="1200"/>
          </a:p>
        </p:txBody>
      </p:sp>
      <p:sp>
        <p:nvSpPr>
          <p:cNvPr id="40" name="圓角矩形 39"/>
          <p:cNvSpPr/>
          <p:nvPr/>
        </p:nvSpPr>
        <p:spPr>
          <a:xfrm>
            <a:off x="6372225" y="336232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/>
              <a:t>UDP/TCP</a:t>
            </a:r>
            <a:endParaRPr lang="zh-CN" altLang="en-US" sz="1200"/>
          </a:p>
        </p:txBody>
      </p:sp>
      <p:sp>
        <p:nvSpPr>
          <p:cNvPr id="41" name="圓角矩形 40"/>
          <p:cNvSpPr/>
          <p:nvPr/>
        </p:nvSpPr>
        <p:spPr>
          <a:xfrm>
            <a:off x="6372225" y="382206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/>
              <a:t>带宽评估</a:t>
            </a:r>
            <a:endParaRPr lang="zh-CN" altLang="en-US" sz="1200"/>
          </a:p>
        </p:txBody>
      </p:sp>
      <p:sp>
        <p:nvSpPr>
          <p:cNvPr id="42" name="圓角矩形 41"/>
          <p:cNvSpPr/>
          <p:nvPr/>
        </p:nvSpPr>
        <p:spPr>
          <a:xfrm>
            <a:off x="6372225" y="434403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/>
              <a:t>STUN/TURN</a:t>
            </a:r>
            <a:endParaRPr lang="zh-CN" altLang="en-US" sz="1200"/>
          </a:p>
        </p:txBody>
      </p:sp>
      <p:sp>
        <p:nvSpPr>
          <p:cNvPr id="43" name="圓角矩形 42"/>
          <p:cNvSpPr/>
          <p:nvPr/>
        </p:nvSpPr>
        <p:spPr>
          <a:xfrm>
            <a:off x="637222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  <a:endParaRPr lang="en-US" altLang="zh-CN" sz="1200"/>
          </a:p>
        </p:txBody>
      </p:sp>
      <p:sp>
        <p:nvSpPr>
          <p:cNvPr id="44" name="矩形 43"/>
          <p:cNvSpPr/>
          <p:nvPr/>
        </p:nvSpPr>
        <p:spPr>
          <a:xfrm>
            <a:off x="1242060" y="2647950"/>
            <a:ext cx="2346325" cy="255206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HK" altLang="en-US"/>
          </a:p>
        </p:txBody>
      </p:sp>
      <p:sp>
        <p:nvSpPr>
          <p:cNvPr id="45" name="文字框 44"/>
          <p:cNvSpPr txBox="1"/>
          <p:nvPr/>
        </p:nvSpPr>
        <p:spPr>
          <a:xfrm>
            <a:off x="1494155" y="2813685"/>
            <a:ext cx="1860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zh-HK">
                <a:solidFill>
                  <a:schemeClr val="bg1"/>
                </a:solidFill>
              </a:rPr>
              <a:t>跨平台文件系统</a:t>
            </a:r>
            <a:endParaRPr lang="zh-CN" altLang="zh-HK">
              <a:solidFill>
                <a:schemeClr val="bg1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49515" y="2647950"/>
            <a:ext cx="2370455" cy="25914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HK" altLang="en-US"/>
          </a:p>
        </p:txBody>
      </p:sp>
      <p:sp>
        <p:nvSpPr>
          <p:cNvPr id="47" name="文字框 46"/>
          <p:cNvSpPr txBox="1"/>
          <p:nvPr/>
        </p:nvSpPr>
        <p:spPr>
          <a:xfrm>
            <a:off x="7767955" y="2757170"/>
            <a:ext cx="2031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/>
              <a:t>高效文件传输系统</a:t>
            </a:r>
            <a:endParaRPr lang="zh-CN" altLang="zh-HK"/>
          </a:p>
        </p:txBody>
      </p:sp>
      <p:sp>
        <p:nvSpPr>
          <p:cNvPr id="48" name="矩形 47"/>
          <p:cNvSpPr/>
          <p:nvPr>
            <p:custDataLst>
              <p:tags r:id="rId17"/>
            </p:custDataLst>
          </p:nvPr>
        </p:nvSpPr>
        <p:spPr>
          <a:xfrm>
            <a:off x="924052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鉴权管理</a:t>
            </a:r>
            <a:endParaRPr lang="zh-CN" altLang="en-US" sz="1200" dirty="0"/>
          </a:p>
        </p:txBody>
      </p:sp>
      <p:sp>
        <p:nvSpPr>
          <p:cNvPr id="50" name="圓角矩形 49"/>
          <p:cNvSpPr/>
          <p:nvPr/>
        </p:nvSpPr>
        <p:spPr>
          <a:xfrm>
            <a:off x="181610" y="5405755"/>
            <a:ext cx="10527665" cy="152146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zh-HK"/>
              <a:t>内核层</a:t>
            </a:r>
            <a:endParaRPr lang="zh-CN" altLang="zh-HK"/>
          </a:p>
        </p:txBody>
      </p:sp>
      <p:sp>
        <p:nvSpPr>
          <p:cNvPr id="51" name="矩形 50"/>
          <p:cNvSpPr/>
          <p:nvPr/>
        </p:nvSpPr>
        <p:spPr>
          <a:xfrm>
            <a:off x="2172970" y="5467350"/>
            <a:ext cx="1687830" cy="1390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HK" altLang="en-US"/>
          </a:p>
        </p:txBody>
      </p:sp>
      <p:sp>
        <p:nvSpPr>
          <p:cNvPr id="52" name="圓角矩形 51"/>
          <p:cNvSpPr/>
          <p:nvPr/>
        </p:nvSpPr>
        <p:spPr>
          <a:xfrm>
            <a:off x="2626995" y="3699510"/>
            <a:ext cx="727710" cy="37465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HK" sz="1200"/>
              <a:t>TCP</a:t>
            </a:r>
            <a:endParaRPr lang="en-US" altLang="zh-HK" sz="1200"/>
          </a:p>
        </p:txBody>
      </p:sp>
      <p:sp>
        <p:nvSpPr>
          <p:cNvPr id="53" name="文字框 52"/>
          <p:cNvSpPr txBox="1"/>
          <p:nvPr/>
        </p:nvSpPr>
        <p:spPr>
          <a:xfrm>
            <a:off x="2516505" y="3275330"/>
            <a:ext cx="10718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400"/>
              <a:t>网络传输</a:t>
            </a:r>
            <a:endParaRPr lang="zh-CN" altLang="zh-HK" sz="1400"/>
          </a:p>
        </p:txBody>
      </p:sp>
      <p:sp>
        <p:nvSpPr>
          <p:cNvPr id="54" name="圓角矩形 53"/>
          <p:cNvSpPr/>
          <p:nvPr/>
        </p:nvSpPr>
        <p:spPr>
          <a:xfrm>
            <a:off x="2572385" y="4505325"/>
            <a:ext cx="782320" cy="3702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网络</a:t>
            </a:r>
            <a:r>
              <a:rPr lang="en-US" altLang="zh-CN" sz="1200"/>
              <a:t>IO</a:t>
            </a:r>
            <a:endParaRPr lang="en-US" altLang="zh-CN" sz="1200"/>
          </a:p>
        </p:txBody>
      </p:sp>
      <p:sp>
        <p:nvSpPr>
          <p:cNvPr id="55" name="文字框 54"/>
          <p:cNvSpPr txBox="1"/>
          <p:nvPr/>
        </p:nvSpPr>
        <p:spPr>
          <a:xfrm>
            <a:off x="1536700" y="3275330"/>
            <a:ext cx="7651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400"/>
              <a:t>协议层</a:t>
            </a:r>
            <a:endParaRPr lang="zh-CN" altLang="zh-HK" sz="1400"/>
          </a:p>
        </p:txBody>
      </p:sp>
      <p:sp>
        <p:nvSpPr>
          <p:cNvPr id="57" name="矩形 56"/>
          <p:cNvSpPr/>
          <p:nvPr/>
        </p:nvSpPr>
        <p:spPr>
          <a:xfrm>
            <a:off x="10004425" y="2648585"/>
            <a:ext cx="628650" cy="25514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后期增加</a:t>
            </a:r>
            <a:r>
              <a:rPr lang="en-US" altLang="zh-HK"/>
              <a:t>GPU</a:t>
            </a:r>
            <a:endParaRPr lang="zh-CN" altLang="en-US"/>
          </a:p>
        </p:txBody>
      </p:sp>
      <p:sp>
        <p:nvSpPr>
          <p:cNvPr id="58" name="圓角矩形 57"/>
          <p:cNvSpPr/>
          <p:nvPr/>
        </p:nvSpPr>
        <p:spPr>
          <a:xfrm>
            <a:off x="1568450" y="3648710"/>
            <a:ext cx="733425" cy="7632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高效压缩数据格式</a:t>
            </a:r>
            <a:endParaRPr lang="zh-CN" altLang="zh-HK" sz="1200"/>
          </a:p>
        </p:txBody>
      </p:sp>
      <p:sp>
        <p:nvSpPr>
          <p:cNvPr id="59" name="文字框 58"/>
          <p:cNvSpPr txBox="1"/>
          <p:nvPr/>
        </p:nvSpPr>
        <p:spPr>
          <a:xfrm>
            <a:off x="8842375" y="3213100"/>
            <a:ext cx="10064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zh-HK" sz="1200"/>
              <a:t>网络传输</a:t>
            </a:r>
            <a:endParaRPr lang="zh-CN" altLang="zh-HK" sz="1200"/>
          </a:p>
        </p:txBody>
      </p:sp>
      <p:sp>
        <p:nvSpPr>
          <p:cNvPr id="60" name="圓角矩形 59"/>
          <p:cNvSpPr/>
          <p:nvPr/>
        </p:nvSpPr>
        <p:spPr>
          <a:xfrm>
            <a:off x="8975090" y="358203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/>
              <a:t>UDP</a:t>
            </a:r>
            <a:endParaRPr lang="zh-CN" altLang="en-US" sz="1200"/>
          </a:p>
        </p:txBody>
      </p:sp>
      <p:sp>
        <p:nvSpPr>
          <p:cNvPr id="61" name="圓角矩形 60"/>
          <p:cNvSpPr/>
          <p:nvPr/>
        </p:nvSpPr>
        <p:spPr>
          <a:xfrm>
            <a:off x="8921115" y="451802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  <a:endParaRPr lang="en-US" altLang="zh-CN" sz="1200"/>
          </a:p>
        </p:txBody>
      </p:sp>
      <p:sp>
        <p:nvSpPr>
          <p:cNvPr id="62" name="文字框 61"/>
          <p:cNvSpPr txBox="1"/>
          <p:nvPr/>
        </p:nvSpPr>
        <p:spPr>
          <a:xfrm>
            <a:off x="7839075" y="3181985"/>
            <a:ext cx="720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400"/>
              <a:t>协议层</a:t>
            </a:r>
            <a:endParaRPr lang="zh-CN" altLang="zh-HK" sz="1400"/>
          </a:p>
        </p:txBody>
      </p:sp>
      <p:sp>
        <p:nvSpPr>
          <p:cNvPr id="63" name="圓角矩形 62"/>
          <p:cNvSpPr/>
          <p:nvPr/>
        </p:nvSpPr>
        <p:spPr>
          <a:xfrm>
            <a:off x="7814945" y="3582035"/>
            <a:ext cx="68453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HK" sz="1200"/>
              <a:t>P2P</a:t>
            </a:r>
            <a:endParaRPr lang="en-US" altLang="zh-HK" sz="1200"/>
          </a:p>
        </p:txBody>
      </p:sp>
      <p:sp>
        <p:nvSpPr>
          <p:cNvPr id="64" name="圓角矩形 63"/>
          <p:cNvSpPr/>
          <p:nvPr/>
        </p:nvSpPr>
        <p:spPr>
          <a:xfrm>
            <a:off x="7767955" y="4552315"/>
            <a:ext cx="89916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/>
              <a:t>丢包处理</a:t>
            </a:r>
            <a:endParaRPr lang="zh-CN" altLang="en-US" sz="1200"/>
          </a:p>
        </p:txBody>
      </p:sp>
      <p:sp>
        <p:nvSpPr>
          <p:cNvPr id="65" name="文字框 64"/>
          <p:cNvSpPr txBox="1"/>
          <p:nvPr/>
        </p:nvSpPr>
        <p:spPr>
          <a:xfrm>
            <a:off x="2731770" y="5542915"/>
            <a:ext cx="518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200"/>
              <a:t>容器</a:t>
            </a:r>
            <a:endParaRPr lang="zh-CN" altLang="zh-HK" sz="1200"/>
          </a:p>
        </p:txBody>
      </p:sp>
      <p:sp>
        <p:nvSpPr>
          <p:cNvPr id="66" name="圓角矩形 65"/>
          <p:cNvSpPr/>
          <p:nvPr/>
        </p:nvSpPr>
        <p:spPr>
          <a:xfrm>
            <a:off x="2218055" y="5818505"/>
            <a:ext cx="74930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HK" sz="1200"/>
              <a:t>win</a:t>
            </a:r>
            <a:r>
              <a:rPr lang="zh-CN" altLang="en-US" sz="1200"/>
              <a:t>沙盒</a:t>
            </a:r>
            <a:endParaRPr lang="zh-CN" altLang="en-US" sz="1200"/>
          </a:p>
        </p:txBody>
      </p:sp>
      <p:sp>
        <p:nvSpPr>
          <p:cNvPr id="67" name="圓角矩形 66"/>
          <p:cNvSpPr/>
          <p:nvPr/>
        </p:nvSpPr>
        <p:spPr>
          <a:xfrm>
            <a:off x="3030220" y="5818505"/>
            <a:ext cx="80645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/>
              <a:t>android</a:t>
            </a:r>
            <a:r>
              <a:rPr lang="zh-CN" altLang="en-US" sz="1200"/>
              <a:t>容器</a:t>
            </a:r>
            <a:endParaRPr lang="zh-CN" altLang="en-US" sz="1200"/>
          </a:p>
        </p:txBody>
      </p:sp>
      <p:sp>
        <p:nvSpPr>
          <p:cNvPr id="68" name="圓角矩形 67"/>
          <p:cNvSpPr/>
          <p:nvPr/>
        </p:nvSpPr>
        <p:spPr>
          <a:xfrm>
            <a:off x="2247900" y="6376670"/>
            <a:ext cx="71882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200"/>
              <a:t>设备多实例化</a:t>
            </a:r>
            <a:endParaRPr lang="zh-CN" sz="1200"/>
          </a:p>
        </p:txBody>
      </p:sp>
      <p:sp>
        <p:nvSpPr>
          <p:cNvPr id="69" name="圓角矩形 68"/>
          <p:cNvSpPr/>
          <p:nvPr/>
        </p:nvSpPr>
        <p:spPr>
          <a:xfrm>
            <a:off x="3030220" y="6376670"/>
            <a:ext cx="83058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200"/>
              <a:t>资源隔离</a:t>
            </a:r>
            <a:endParaRPr lang="zh-CN" sz="1200"/>
          </a:p>
        </p:txBody>
      </p:sp>
      <p:sp>
        <p:nvSpPr>
          <p:cNvPr id="70" name="矩形 69"/>
          <p:cNvSpPr/>
          <p:nvPr/>
        </p:nvSpPr>
        <p:spPr>
          <a:xfrm>
            <a:off x="6178550" y="5467350"/>
            <a:ext cx="3185160" cy="14693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HK" altLang="en-US"/>
          </a:p>
        </p:txBody>
      </p:sp>
      <p:sp>
        <p:nvSpPr>
          <p:cNvPr id="71" name="文字框 70"/>
          <p:cNvSpPr txBox="1"/>
          <p:nvPr/>
        </p:nvSpPr>
        <p:spPr>
          <a:xfrm>
            <a:off x="6797675" y="5467350"/>
            <a:ext cx="20447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400"/>
              <a:t>云端虚拟设备映射</a:t>
            </a:r>
            <a:endParaRPr lang="zh-CN" altLang="zh-HK" sz="1400"/>
          </a:p>
        </p:txBody>
      </p:sp>
      <p:sp>
        <p:nvSpPr>
          <p:cNvPr id="72" name="圓角矩形 71"/>
          <p:cNvSpPr/>
          <p:nvPr/>
        </p:nvSpPr>
        <p:spPr>
          <a:xfrm>
            <a:off x="6283960" y="5835650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虚拟设备通信协议接口</a:t>
            </a:r>
            <a:endParaRPr lang="zh-CN" altLang="zh-HK" sz="1200"/>
          </a:p>
        </p:txBody>
      </p:sp>
      <p:sp>
        <p:nvSpPr>
          <p:cNvPr id="73" name="圓角矩形 72"/>
          <p:cNvSpPr/>
          <p:nvPr/>
        </p:nvSpPr>
        <p:spPr>
          <a:xfrm>
            <a:off x="7983220" y="5835650"/>
            <a:ext cx="1257300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设备虚拟化</a:t>
            </a:r>
            <a:endParaRPr lang="zh-CN" altLang="zh-HK" sz="1200"/>
          </a:p>
        </p:txBody>
      </p:sp>
      <p:sp>
        <p:nvSpPr>
          <p:cNvPr id="74" name="圓角矩形 73"/>
          <p:cNvSpPr/>
          <p:nvPr/>
        </p:nvSpPr>
        <p:spPr>
          <a:xfrm>
            <a:off x="6283960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外设设备数据注入</a:t>
            </a:r>
            <a:endParaRPr lang="zh-CN" altLang="zh-HK" sz="1200"/>
          </a:p>
        </p:txBody>
      </p:sp>
      <p:sp>
        <p:nvSpPr>
          <p:cNvPr id="75" name="圓角矩形 74"/>
          <p:cNvSpPr/>
          <p:nvPr/>
        </p:nvSpPr>
        <p:spPr>
          <a:xfrm>
            <a:off x="7839075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设备地址空间转换</a:t>
            </a:r>
            <a:endParaRPr lang="zh-CN" altLang="zh-HK" sz="1200"/>
          </a:p>
        </p:txBody>
      </p:sp>
      <p:sp>
        <p:nvSpPr>
          <p:cNvPr id="76" name="圓角矩形 75"/>
          <p:cNvSpPr/>
          <p:nvPr/>
        </p:nvSpPr>
        <p:spPr>
          <a:xfrm>
            <a:off x="10633710" y="415925"/>
            <a:ext cx="1501140" cy="196215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HK" altLang="en-US"/>
          </a:p>
        </p:txBody>
      </p:sp>
      <p:sp>
        <p:nvSpPr>
          <p:cNvPr id="77" name="文字框 76"/>
          <p:cNvSpPr txBox="1"/>
          <p:nvPr/>
        </p:nvSpPr>
        <p:spPr>
          <a:xfrm>
            <a:off x="10807065" y="58166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400">
                <a:solidFill>
                  <a:schemeClr val="bg1"/>
                </a:solidFill>
              </a:rPr>
              <a:t>大数据平台</a:t>
            </a:r>
            <a:endParaRPr lang="zh-CN" altLang="zh-HK" sz="1400">
              <a:solidFill>
                <a:schemeClr val="bg1"/>
              </a:solidFill>
            </a:endParaRPr>
          </a:p>
        </p:txBody>
      </p:sp>
      <p:sp>
        <p:nvSpPr>
          <p:cNvPr id="79" name="圓角矩形 78"/>
          <p:cNvSpPr/>
          <p:nvPr/>
        </p:nvSpPr>
        <p:spPr>
          <a:xfrm>
            <a:off x="10793095" y="982980"/>
            <a:ext cx="11823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大数据接口层</a:t>
            </a:r>
            <a:endParaRPr lang="zh-CN" altLang="zh-HK" sz="1200"/>
          </a:p>
        </p:txBody>
      </p:sp>
      <p:sp>
        <p:nvSpPr>
          <p:cNvPr id="80" name="圓角矩形 79"/>
          <p:cNvSpPr/>
          <p:nvPr/>
        </p:nvSpPr>
        <p:spPr>
          <a:xfrm>
            <a:off x="10793095" y="1842135"/>
            <a:ext cx="1182370" cy="429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大数据存储</a:t>
            </a:r>
            <a:endParaRPr lang="zh-CN" altLang="zh-HK" sz="1200"/>
          </a:p>
        </p:txBody>
      </p:sp>
      <p:sp>
        <p:nvSpPr>
          <p:cNvPr id="81" name="圓角矩形 80"/>
          <p:cNvSpPr/>
          <p:nvPr/>
        </p:nvSpPr>
        <p:spPr>
          <a:xfrm>
            <a:off x="10709275" y="1452245"/>
            <a:ext cx="13982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200"/>
              <a:t>数据处理与分析</a:t>
            </a:r>
            <a:endParaRPr lang="zh-CN" altLang="zh-HK" sz="1200"/>
          </a:p>
        </p:txBody>
      </p:sp>
      <p:sp>
        <p:nvSpPr>
          <p:cNvPr id="82" name="圓角矩形 81"/>
          <p:cNvSpPr/>
          <p:nvPr/>
        </p:nvSpPr>
        <p:spPr>
          <a:xfrm>
            <a:off x="10739755" y="2537460"/>
            <a:ext cx="1440180" cy="430720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HK" altLang="en-US"/>
          </a:p>
        </p:txBody>
      </p:sp>
      <p:sp>
        <p:nvSpPr>
          <p:cNvPr id="83" name="文字框 82"/>
          <p:cNvSpPr txBox="1"/>
          <p:nvPr/>
        </p:nvSpPr>
        <p:spPr>
          <a:xfrm>
            <a:off x="10891520" y="2849880"/>
            <a:ext cx="12153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zh-HK" sz="1200">
                <a:solidFill>
                  <a:schemeClr val="bg1"/>
                </a:solidFill>
              </a:rPr>
              <a:t>智能运营平台</a:t>
            </a:r>
            <a:endParaRPr lang="zh-CN" altLang="zh-HK" sz="1200">
              <a:solidFill>
                <a:schemeClr val="bg1"/>
              </a:solidFill>
            </a:endParaRPr>
          </a:p>
        </p:txBody>
      </p:sp>
      <p:sp>
        <p:nvSpPr>
          <p:cNvPr id="84" name="圓角矩形 83"/>
          <p:cNvSpPr/>
          <p:nvPr/>
        </p:nvSpPr>
        <p:spPr>
          <a:xfrm>
            <a:off x="10891520" y="327533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000"/>
              <a:t>统一门户入口</a:t>
            </a:r>
            <a:endParaRPr lang="zh-CN" altLang="zh-HK" sz="1000"/>
          </a:p>
        </p:txBody>
      </p:sp>
      <p:sp>
        <p:nvSpPr>
          <p:cNvPr id="85" name="圓角矩形 84"/>
          <p:cNvSpPr/>
          <p:nvPr/>
        </p:nvSpPr>
        <p:spPr>
          <a:xfrm>
            <a:off x="10891520" y="370014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000"/>
              <a:t>集中报警平台</a:t>
            </a:r>
            <a:endParaRPr lang="zh-CN" altLang="zh-HK" sz="1000"/>
          </a:p>
        </p:txBody>
      </p:sp>
      <p:sp>
        <p:nvSpPr>
          <p:cNvPr id="86" name="圓角矩形 85"/>
          <p:cNvSpPr/>
          <p:nvPr/>
        </p:nvSpPr>
        <p:spPr>
          <a:xfrm>
            <a:off x="10891520" y="42075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000"/>
              <a:t>服务流程管理</a:t>
            </a:r>
            <a:endParaRPr lang="zh-CN" altLang="zh-HK" sz="1000"/>
          </a:p>
        </p:txBody>
      </p:sp>
      <p:sp>
        <p:nvSpPr>
          <p:cNvPr id="87" name="圓角矩形 86"/>
          <p:cNvSpPr/>
          <p:nvPr/>
        </p:nvSpPr>
        <p:spPr>
          <a:xfrm>
            <a:off x="10891520" y="46520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000"/>
              <a:t>配置中心</a:t>
            </a:r>
            <a:endParaRPr lang="zh-CN" altLang="zh-HK" sz="1000"/>
          </a:p>
        </p:txBody>
      </p:sp>
      <p:sp>
        <p:nvSpPr>
          <p:cNvPr id="88" name="圓角矩形 87"/>
          <p:cNvSpPr/>
          <p:nvPr/>
        </p:nvSpPr>
        <p:spPr>
          <a:xfrm>
            <a:off x="10914380" y="516953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1000"/>
              <a:t>资产管理</a:t>
            </a:r>
            <a:endParaRPr lang="zh-CN" altLang="zh-HK" sz="1000"/>
          </a:p>
        </p:txBody>
      </p:sp>
      <p:sp>
        <p:nvSpPr>
          <p:cNvPr id="89" name="圓角矩形 88"/>
          <p:cNvSpPr/>
          <p:nvPr/>
        </p:nvSpPr>
        <p:spPr>
          <a:xfrm>
            <a:off x="10914380" y="568579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HK" sz="800"/>
              <a:t>数据及消息中间件</a:t>
            </a:r>
            <a:endParaRPr lang="zh-CN" altLang="zh-HK" sz="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HK" altLang="en-US"/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HK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2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3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4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5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6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7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8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9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0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1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2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3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4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5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6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7.xml><?xml version="1.0" encoding="utf-8"?>
<p:tagLst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361</Words>
  <Application>WPS Presentation</Application>
  <PresentationFormat>Widescreen</PresentationFormat>
  <Paragraphs>146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宋体</vt:lpstr>
      <vt:lpstr>Wingdings</vt:lpstr>
      <vt:lpstr>PMingLiU</vt:lpstr>
      <vt:lpstr>Segoe Print</vt:lpstr>
      <vt:lpstr>Calibri Light</vt:lpstr>
      <vt:lpstr>Calibri</vt:lpstr>
      <vt:lpstr>微软雅黑</vt:lpstr>
      <vt:lpstr>Arial Unicode MS</vt:lpstr>
      <vt:lpstr>PMingLiU</vt:lpstr>
      <vt:lpstr>Office Theme</vt:lpstr>
      <vt:lpstr>云电脑平台架构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Administrator</cp:lastModifiedBy>
  <cp:revision>38</cp:revision>
  <dcterms:created xsi:type="dcterms:W3CDTF">2025-07-23T00:59:00Z</dcterms:created>
  <dcterms:modified xsi:type="dcterms:W3CDTF">2025-11-14T05:36:27Z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3076-12.2.0.23155</vt:lpwstr>
  </property>
</Properties>
</file>