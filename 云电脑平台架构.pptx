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7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chensong" initials="c" lastIdx="2" clrIdx="0">
    <p:extLst>
      <p:ext uri="{19B8F6BF-5375-455C-9EA6-DF929625EA0E}">
        <p15:presenceInfo xmlns:p15="http://schemas.microsoft.com/office/powerpoint/2012/main" userId="chensong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 showGuides="1">
      <p:cViewPr varScale="1">
        <p:scale>
          <a:sx n="138" d="100"/>
          <a:sy n="138" d="100"/>
        </p:scale>
        <p:origin x="120" y="678"/>
      </p:cViewPr>
      <p:guideLst>
        <p:guide orient="horz" pos="2160"/>
        <p:guide pos="387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11-16T13:07:17.375" idx="2">
    <p:pos x="10" y="10"/>
    <p:text/>
    <p:extLst>
      <p:ext uri="{C676402C-5697-4E1C-873F-D02D1690AC5C}">
        <p15:threadingInfo xmlns:p15="http://schemas.microsoft.com/office/powerpoint/2012/main" timeZoneBias="-480"/>
      </p:ext>
    </p:extLst>
  </p:cm>
</p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2025-11-16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2025-11-16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2025-11-16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2025-11-16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2025-11-16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2025-11-16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2025-11-16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2025-11-16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2025-11-16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2025-11-16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2025-11-16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  <a:t>2025-11-16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13" Type="http://schemas.openxmlformats.org/officeDocument/2006/relationships/tags" Target="../tags/tag13.xml"/><Relationship Id="rId18" Type="http://schemas.openxmlformats.org/officeDocument/2006/relationships/slideLayout" Target="../slideLayouts/slideLayout1.xml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12" Type="http://schemas.openxmlformats.org/officeDocument/2006/relationships/tags" Target="../tags/tag12.xml"/><Relationship Id="rId17" Type="http://schemas.openxmlformats.org/officeDocument/2006/relationships/tags" Target="../tags/tag17.xml"/><Relationship Id="rId2" Type="http://schemas.openxmlformats.org/officeDocument/2006/relationships/tags" Target="../tags/tag2.xml"/><Relationship Id="rId16" Type="http://schemas.openxmlformats.org/officeDocument/2006/relationships/tags" Target="../tags/tag16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tags" Target="../tags/tag11.xml"/><Relationship Id="rId5" Type="http://schemas.openxmlformats.org/officeDocument/2006/relationships/tags" Target="../tags/tag5.xml"/><Relationship Id="rId15" Type="http://schemas.openxmlformats.org/officeDocument/2006/relationships/tags" Target="../tags/tag15.xml"/><Relationship Id="rId10" Type="http://schemas.openxmlformats.org/officeDocument/2006/relationships/tags" Target="../tags/tag10.xml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4" Type="http://schemas.openxmlformats.org/officeDocument/2006/relationships/tags" Target="../tags/tag1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3685" y="140335"/>
            <a:ext cx="3883660" cy="441325"/>
          </a:xfrm>
        </p:spPr>
        <p:txBody>
          <a:bodyPr>
            <a:normAutofit fontScale="90000"/>
          </a:bodyPr>
          <a:lstStyle/>
          <a:p>
            <a:pPr algn="ctr"/>
            <a:r>
              <a:rPr lang="zh-HK" altLang="en-US" sz="3555" dirty="0">
                <a:solidFill>
                  <a:schemeClr val="accent5">
                    <a:lumMod val="75000"/>
                  </a:schemeClr>
                </a:solidFill>
              </a:rPr>
              <a:t>云电脑平台架构</a:t>
            </a:r>
          </a:p>
        </p:txBody>
      </p:sp>
      <p:sp>
        <p:nvSpPr>
          <p:cNvPr id="4" name="圓角矩形 3"/>
          <p:cNvSpPr/>
          <p:nvPr/>
        </p:nvSpPr>
        <p:spPr>
          <a:xfrm>
            <a:off x="224790" y="553720"/>
            <a:ext cx="4863465" cy="745490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0"/>
              </a:lnSpc>
            </a:pPr>
            <a:r>
              <a:rPr lang="zh-CN" altLang="zh-HK" dirty="0" smtClean="0"/>
              <a:t>接口层</a:t>
            </a:r>
            <a:endParaRPr lang="zh-CN" altLang="zh-HK" dirty="0"/>
          </a:p>
        </p:txBody>
      </p:sp>
      <p:sp>
        <p:nvSpPr>
          <p:cNvPr id="5" name="矩形 4"/>
          <p:cNvSpPr/>
          <p:nvPr>
            <p:custDataLst>
              <p:tags r:id="rId1"/>
            </p:custDataLst>
          </p:nvPr>
        </p:nvSpPr>
        <p:spPr>
          <a:xfrm>
            <a:off x="248603" y="835196"/>
            <a:ext cx="1188720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/>
              <a:t>客户主服务</a:t>
            </a:r>
          </a:p>
        </p:txBody>
      </p:sp>
      <p:sp>
        <p:nvSpPr>
          <p:cNvPr id="6" name="矩形 5"/>
          <p:cNvSpPr/>
          <p:nvPr>
            <p:custDataLst>
              <p:tags r:id="rId2"/>
            </p:custDataLst>
          </p:nvPr>
        </p:nvSpPr>
        <p:spPr>
          <a:xfrm>
            <a:off x="3512185" y="789940"/>
            <a:ext cx="1377315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/>
              <a:t>SDK</a:t>
            </a:r>
          </a:p>
        </p:txBody>
      </p:sp>
      <p:sp>
        <p:nvSpPr>
          <p:cNvPr id="7" name="矩形 6"/>
          <p:cNvSpPr/>
          <p:nvPr>
            <p:custDataLst>
              <p:tags r:id="rId3"/>
            </p:custDataLst>
          </p:nvPr>
        </p:nvSpPr>
        <p:spPr>
          <a:xfrm>
            <a:off x="1707989" y="844550"/>
            <a:ext cx="1494790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/>
              <a:t>API</a:t>
            </a:r>
          </a:p>
        </p:txBody>
      </p:sp>
      <p:sp>
        <p:nvSpPr>
          <p:cNvPr id="11" name="圓角矩形 10"/>
          <p:cNvSpPr/>
          <p:nvPr/>
        </p:nvSpPr>
        <p:spPr>
          <a:xfrm>
            <a:off x="5269865" y="553720"/>
            <a:ext cx="5068570" cy="748030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0"/>
              </a:lnSpc>
            </a:pPr>
            <a:r>
              <a:rPr lang="zh-CN" altLang="zh-HK"/>
              <a:t>管理层</a:t>
            </a:r>
          </a:p>
        </p:txBody>
      </p:sp>
      <p:sp>
        <p:nvSpPr>
          <p:cNvPr id="12" name="矩形 11"/>
          <p:cNvSpPr/>
          <p:nvPr>
            <p:custDataLst>
              <p:tags r:id="rId4"/>
            </p:custDataLst>
          </p:nvPr>
        </p:nvSpPr>
        <p:spPr>
          <a:xfrm>
            <a:off x="5302885" y="847090"/>
            <a:ext cx="848995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/>
              <a:t>租户管理</a:t>
            </a:r>
          </a:p>
        </p:txBody>
      </p:sp>
      <p:sp>
        <p:nvSpPr>
          <p:cNvPr id="13" name="矩形 12"/>
          <p:cNvSpPr/>
          <p:nvPr>
            <p:custDataLst>
              <p:tags r:id="rId5"/>
            </p:custDataLst>
          </p:nvPr>
        </p:nvSpPr>
        <p:spPr>
          <a:xfrm>
            <a:off x="6172835" y="847090"/>
            <a:ext cx="893445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/>
              <a:t>用户管理</a:t>
            </a:r>
          </a:p>
        </p:txBody>
      </p:sp>
      <p:sp>
        <p:nvSpPr>
          <p:cNvPr id="14" name="矩形 13"/>
          <p:cNvSpPr/>
          <p:nvPr>
            <p:custDataLst>
              <p:tags r:id="rId6"/>
            </p:custDataLst>
          </p:nvPr>
        </p:nvSpPr>
        <p:spPr>
          <a:xfrm>
            <a:off x="7105650" y="847090"/>
            <a:ext cx="928370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/>
              <a:t>计费管理</a:t>
            </a:r>
          </a:p>
        </p:txBody>
      </p:sp>
      <p:sp>
        <p:nvSpPr>
          <p:cNvPr id="15" name="矩形 14"/>
          <p:cNvSpPr/>
          <p:nvPr>
            <p:custDataLst>
              <p:tags r:id="rId7"/>
            </p:custDataLst>
          </p:nvPr>
        </p:nvSpPr>
        <p:spPr>
          <a:xfrm>
            <a:off x="8075930" y="847090"/>
            <a:ext cx="1097280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/>
              <a:t>认证管理</a:t>
            </a:r>
          </a:p>
        </p:txBody>
      </p:sp>
      <p:sp>
        <p:nvSpPr>
          <p:cNvPr id="16" name="圓角矩形 15"/>
          <p:cNvSpPr/>
          <p:nvPr/>
        </p:nvSpPr>
        <p:spPr>
          <a:xfrm>
            <a:off x="207010" y="1368425"/>
            <a:ext cx="10284460" cy="1010285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0"/>
              </a:lnSpc>
            </a:pPr>
            <a:r>
              <a:rPr lang="zh-CN" altLang="zh-HK"/>
              <a:t>微服务平台</a:t>
            </a:r>
          </a:p>
          <a:p>
            <a:pPr algn="ctr">
              <a:lnSpc>
                <a:spcPct val="0"/>
              </a:lnSpc>
            </a:pPr>
            <a:endParaRPr lang="zh-CN" altLang="zh-HK"/>
          </a:p>
        </p:txBody>
      </p:sp>
      <p:sp>
        <p:nvSpPr>
          <p:cNvPr id="17" name="矩形 16"/>
          <p:cNvSpPr/>
          <p:nvPr>
            <p:custDataLst>
              <p:tags r:id="rId8"/>
            </p:custDataLst>
          </p:nvPr>
        </p:nvSpPr>
        <p:spPr>
          <a:xfrm>
            <a:off x="207010" y="1842135"/>
            <a:ext cx="1370965" cy="454660"/>
          </a:xfrm>
          <a:prstGeom prst="rect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数据库集群</a:t>
            </a:r>
          </a:p>
        </p:txBody>
      </p:sp>
      <p:sp>
        <p:nvSpPr>
          <p:cNvPr id="18" name="矩形 17"/>
          <p:cNvSpPr/>
          <p:nvPr>
            <p:custDataLst>
              <p:tags r:id="rId9"/>
            </p:custDataLst>
          </p:nvPr>
        </p:nvSpPr>
        <p:spPr>
          <a:xfrm>
            <a:off x="1536700" y="1842135"/>
            <a:ext cx="1195070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消息中心</a:t>
            </a:r>
          </a:p>
        </p:txBody>
      </p:sp>
      <p:sp>
        <p:nvSpPr>
          <p:cNvPr id="19" name="矩形 18"/>
          <p:cNvSpPr/>
          <p:nvPr>
            <p:custDataLst>
              <p:tags r:id="rId10"/>
            </p:custDataLst>
          </p:nvPr>
        </p:nvSpPr>
        <p:spPr>
          <a:xfrm>
            <a:off x="2728595" y="1842135"/>
            <a:ext cx="1108075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路由调度</a:t>
            </a:r>
          </a:p>
        </p:txBody>
      </p:sp>
      <p:sp>
        <p:nvSpPr>
          <p:cNvPr id="20" name="矩形 19"/>
          <p:cNvSpPr/>
          <p:nvPr>
            <p:custDataLst>
              <p:tags r:id="rId11"/>
            </p:custDataLst>
          </p:nvPr>
        </p:nvSpPr>
        <p:spPr>
          <a:xfrm>
            <a:off x="3789045" y="1842135"/>
            <a:ext cx="1351280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微服务治理</a:t>
            </a:r>
          </a:p>
        </p:txBody>
      </p:sp>
      <p:sp>
        <p:nvSpPr>
          <p:cNvPr id="21" name="矩形 20"/>
          <p:cNvSpPr/>
          <p:nvPr>
            <p:custDataLst>
              <p:tags r:id="rId12"/>
            </p:custDataLst>
          </p:nvPr>
        </p:nvSpPr>
        <p:spPr>
          <a:xfrm>
            <a:off x="5070475" y="1842135"/>
            <a:ext cx="1140460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监控警告</a:t>
            </a:r>
          </a:p>
        </p:txBody>
      </p:sp>
      <p:sp>
        <p:nvSpPr>
          <p:cNvPr id="22" name="矩形 21"/>
          <p:cNvSpPr/>
          <p:nvPr>
            <p:custDataLst>
              <p:tags r:id="rId13"/>
            </p:custDataLst>
          </p:nvPr>
        </p:nvSpPr>
        <p:spPr>
          <a:xfrm>
            <a:off x="6172835" y="1842135"/>
            <a:ext cx="1148080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容灾备份</a:t>
            </a:r>
          </a:p>
        </p:txBody>
      </p:sp>
      <p:sp>
        <p:nvSpPr>
          <p:cNvPr id="23" name="矩形 22"/>
          <p:cNvSpPr/>
          <p:nvPr>
            <p:custDataLst>
              <p:tags r:id="rId14"/>
            </p:custDataLst>
          </p:nvPr>
        </p:nvSpPr>
        <p:spPr>
          <a:xfrm>
            <a:off x="7320915" y="1842135"/>
            <a:ext cx="1151255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配置中心</a:t>
            </a:r>
          </a:p>
        </p:txBody>
      </p:sp>
      <p:sp>
        <p:nvSpPr>
          <p:cNvPr id="24" name="矩形 23"/>
          <p:cNvSpPr/>
          <p:nvPr>
            <p:custDataLst>
              <p:tags r:id="rId15"/>
            </p:custDataLst>
          </p:nvPr>
        </p:nvSpPr>
        <p:spPr>
          <a:xfrm>
            <a:off x="8472170" y="1842135"/>
            <a:ext cx="891540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控制台</a:t>
            </a:r>
          </a:p>
        </p:txBody>
      </p:sp>
      <p:sp>
        <p:nvSpPr>
          <p:cNvPr id="25" name="矩形 24"/>
          <p:cNvSpPr/>
          <p:nvPr>
            <p:custDataLst>
              <p:tags r:id="rId16"/>
            </p:custDataLst>
          </p:nvPr>
        </p:nvSpPr>
        <p:spPr>
          <a:xfrm>
            <a:off x="9345930" y="1842135"/>
            <a:ext cx="1145540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负载均衡</a:t>
            </a:r>
          </a:p>
        </p:txBody>
      </p:sp>
      <p:sp>
        <p:nvSpPr>
          <p:cNvPr id="26" name="圓角矩形 25"/>
          <p:cNvSpPr/>
          <p:nvPr/>
        </p:nvSpPr>
        <p:spPr>
          <a:xfrm>
            <a:off x="207010" y="2494280"/>
            <a:ext cx="10600055" cy="2819400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0"/>
              </a:lnSpc>
            </a:pPr>
            <a:r>
              <a:rPr lang="zh-CN" altLang="zh-HK"/>
              <a:t>系统层</a:t>
            </a:r>
          </a:p>
          <a:p>
            <a:pPr algn="ctr">
              <a:lnSpc>
                <a:spcPct val="0"/>
              </a:lnSpc>
            </a:pPr>
            <a:endParaRPr lang="zh-CN" altLang="zh-HK"/>
          </a:p>
        </p:txBody>
      </p:sp>
      <p:sp>
        <p:nvSpPr>
          <p:cNvPr id="28" name="矩形 27"/>
          <p:cNvSpPr/>
          <p:nvPr/>
        </p:nvSpPr>
        <p:spPr>
          <a:xfrm>
            <a:off x="3705225" y="2609215"/>
            <a:ext cx="3768725" cy="2590800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0"/>
              </a:lnSpc>
            </a:pPr>
            <a:endParaRPr lang="en-US" altLang="zh-CN"/>
          </a:p>
        </p:txBody>
      </p:sp>
      <p:sp>
        <p:nvSpPr>
          <p:cNvPr id="29" name="圓角矩形 28"/>
          <p:cNvSpPr/>
          <p:nvPr/>
        </p:nvSpPr>
        <p:spPr>
          <a:xfrm>
            <a:off x="3928110" y="3361055"/>
            <a:ext cx="961390" cy="35750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编码器</a:t>
            </a:r>
          </a:p>
        </p:txBody>
      </p:sp>
      <p:sp>
        <p:nvSpPr>
          <p:cNvPr id="30" name="文字框 29"/>
          <p:cNvSpPr txBox="1"/>
          <p:nvPr/>
        </p:nvSpPr>
        <p:spPr>
          <a:xfrm>
            <a:off x="4060825" y="2757170"/>
            <a:ext cx="2595880" cy="32575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zh-HK">
                <a:solidFill>
                  <a:schemeClr val="bg1"/>
                </a:solidFill>
              </a:rPr>
              <a:t>实时流媒体系统</a:t>
            </a:r>
            <a:r>
              <a:rPr lang="en-US" altLang="zh-CN">
                <a:solidFill>
                  <a:schemeClr val="bg1"/>
                </a:solidFill>
              </a:rPr>
              <a:t>CRTC</a:t>
            </a:r>
          </a:p>
        </p:txBody>
      </p:sp>
      <p:sp>
        <p:nvSpPr>
          <p:cNvPr id="31" name="文字框 30"/>
          <p:cNvSpPr txBox="1"/>
          <p:nvPr/>
        </p:nvSpPr>
        <p:spPr>
          <a:xfrm>
            <a:off x="3928110" y="3043555"/>
            <a:ext cx="1643380" cy="29845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HK" sz="1200">
                <a:solidFill>
                  <a:schemeClr val="tx1"/>
                </a:solidFill>
              </a:rPr>
              <a:t>Audio/Video</a:t>
            </a:r>
          </a:p>
        </p:txBody>
      </p:sp>
      <p:sp>
        <p:nvSpPr>
          <p:cNvPr id="33" name="圓角矩形 32"/>
          <p:cNvSpPr/>
          <p:nvPr/>
        </p:nvSpPr>
        <p:spPr>
          <a:xfrm>
            <a:off x="5029835" y="3361690"/>
            <a:ext cx="1143000" cy="35814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图像增强</a:t>
            </a:r>
          </a:p>
        </p:txBody>
      </p:sp>
      <p:sp>
        <p:nvSpPr>
          <p:cNvPr id="34" name="圓角矩形 33"/>
          <p:cNvSpPr/>
          <p:nvPr/>
        </p:nvSpPr>
        <p:spPr>
          <a:xfrm>
            <a:off x="3926840" y="3811270"/>
            <a:ext cx="962660" cy="36830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抖动控制</a:t>
            </a:r>
          </a:p>
        </p:txBody>
      </p:sp>
      <p:sp>
        <p:nvSpPr>
          <p:cNvPr id="35" name="圓角矩形 34"/>
          <p:cNvSpPr/>
          <p:nvPr/>
        </p:nvSpPr>
        <p:spPr>
          <a:xfrm>
            <a:off x="3926840" y="4294505"/>
            <a:ext cx="962660" cy="35750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预处理</a:t>
            </a:r>
          </a:p>
        </p:txBody>
      </p:sp>
      <p:sp>
        <p:nvSpPr>
          <p:cNvPr id="36" name="圓角矩形 35"/>
          <p:cNvSpPr/>
          <p:nvPr/>
        </p:nvSpPr>
        <p:spPr>
          <a:xfrm>
            <a:off x="5029835" y="3822065"/>
            <a:ext cx="1143000" cy="35750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音视频同步</a:t>
            </a:r>
          </a:p>
        </p:txBody>
      </p:sp>
      <p:sp>
        <p:nvSpPr>
          <p:cNvPr id="37" name="圓角矩形 36"/>
          <p:cNvSpPr/>
          <p:nvPr/>
        </p:nvSpPr>
        <p:spPr>
          <a:xfrm>
            <a:off x="3926840" y="4765675"/>
            <a:ext cx="1009650" cy="35750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音视频采集</a:t>
            </a:r>
          </a:p>
        </p:txBody>
      </p:sp>
      <p:sp>
        <p:nvSpPr>
          <p:cNvPr id="38" name="圓角矩形 37"/>
          <p:cNvSpPr/>
          <p:nvPr/>
        </p:nvSpPr>
        <p:spPr>
          <a:xfrm>
            <a:off x="5070475" y="4765675"/>
            <a:ext cx="1009650" cy="35750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渲染</a:t>
            </a:r>
          </a:p>
        </p:txBody>
      </p:sp>
      <p:sp>
        <p:nvSpPr>
          <p:cNvPr id="39" name="文字框 38"/>
          <p:cNvSpPr txBox="1"/>
          <p:nvPr/>
        </p:nvSpPr>
        <p:spPr>
          <a:xfrm>
            <a:off x="6464300" y="3043555"/>
            <a:ext cx="116967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HK" sz="1200"/>
              <a:t>网络传输</a:t>
            </a:r>
          </a:p>
        </p:txBody>
      </p:sp>
      <p:sp>
        <p:nvSpPr>
          <p:cNvPr id="40" name="圓角矩形 39"/>
          <p:cNvSpPr/>
          <p:nvPr/>
        </p:nvSpPr>
        <p:spPr>
          <a:xfrm>
            <a:off x="6372225" y="3362325"/>
            <a:ext cx="1009650" cy="35750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/>
              <a:t>UDP/TCP</a:t>
            </a:r>
            <a:endParaRPr lang="zh-CN" altLang="en-US" sz="1200"/>
          </a:p>
        </p:txBody>
      </p:sp>
      <p:sp>
        <p:nvSpPr>
          <p:cNvPr id="41" name="圓角矩形 40"/>
          <p:cNvSpPr/>
          <p:nvPr/>
        </p:nvSpPr>
        <p:spPr>
          <a:xfrm>
            <a:off x="6372225" y="3822065"/>
            <a:ext cx="1009650" cy="35750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/>
              <a:t>带宽评估</a:t>
            </a:r>
          </a:p>
        </p:txBody>
      </p:sp>
      <p:sp>
        <p:nvSpPr>
          <p:cNvPr id="42" name="圓角矩形 41"/>
          <p:cNvSpPr/>
          <p:nvPr/>
        </p:nvSpPr>
        <p:spPr>
          <a:xfrm>
            <a:off x="6372225" y="4344035"/>
            <a:ext cx="1009650" cy="35750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/>
              <a:t>STUN/TURN</a:t>
            </a:r>
            <a:endParaRPr lang="zh-CN" altLang="en-US" sz="1200"/>
          </a:p>
        </p:txBody>
      </p:sp>
      <p:sp>
        <p:nvSpPr>
          <p:cNvPr id="43" name="圓角矩形 42"/>
          <p:cNvSpPr/>
          <p:nvPr/>
        </p:nvSpPr>
        <p:spPr>
          <a:xfrm>
            <a:off x="6372225" y="4765675"/>
            <a:ext cx="1009650" cy="35750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/>
              <a:t>网络</a:t>
            </a:r>
            <a:r>
              <a:rPr lang="en-US" altLang="zh-CN" sz="1200"/>
              <a:t>IO</a:t>
            </a:r>
          </a:p>
        </p:txBody>
      </p:sp>
      <p:sp>
        <p:nvSpPr>
          <p:cNvPr id="44" name="矩形 43"/>
          <p:cNvSpPr/>
          <p:nvPr/>
        </p:nvSpPr>
        <p:spPr>
          <a:xfrm>
            <a:off x="1242060" y="2647950"/>
            <a:ext cx="2346325" cy="2552065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sp>
        <p:nvSpPr>
          <p:cNvPr id="45" name="文字框 44"/>
          <p:cNvSpPr txBox="1"/>
          <p:nvPr/>
        </p:nvSpPr>
        <p:spPr>
          <a:xfrm>
            <a:off x="1494155" y="2813685"/>
            <a:ext cx="18605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zh-HK">
                <a:solidFill>
                  <a:schemeClr val="bg1"/>
                </a:solidFill>
              </a:rPr>
              <a:t>跨平台文件系统</a:t>
            </a:r>
          </a:p>
        </p:txBody>
      </p:sp>
      <p:sp>
        <p:nvSpPr>
          <p:cNvPr id="46" name="矩形 45"/>
          <p:cNvSpPr/>
          <p:nvPr/>
        </p:nvSpPr>
        <p:spPr>
          <a:xfrm>
            <a:off x="7549515" y="2647950"/>
            <a:ext cx="2370455" cy="2591435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sp>
        <p:nvSpPr>
          <p:cNvPr id="47" name="文字框 46"/>
          <p:cNvSpPr txBox="1"/>
          <p:nvPr/>
        </p:nvSpPr>
        <p:spPr>
          <a:xfrm>
            <a:off x="7767955" y="2757170"/>
            <a:ext cx="20313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HK"/>
              <a:t>高效文件传输系统</a:t>
            </a:r>
          </a:p>
        </p:txBody>
      </p:sp>
      <p:sp>
        <p:nvSpPr>
          <p:cNvPr id="48" name="矩形 47"/>
          <p:cNvSpPr/>
          <p:nvPr>
            <p:custDataLst>
              <p:tags r:id="rId17"/>
            </p:custDataLst>
          </p:nvPr>
        </p:nvSpPr>
        <p:spPr>
          <a:xfrm>
            <a:off x="9240520" y="847090"/>
            <a:ext cx="1097280" cy="45466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/>
              <a:t>鉴权管理</a:t>
            </a:r>
          </a:p>
        </p:txBody>
      </p:sp>
      <p:sp>
        <p:nvSpPr>
          <p:cNvPr id="50" name="圓角矩形 49"/>
          <p:cNvSpPr/>
          <p:nvPr/>
        </p:nvSpPr>
        <p:spPr>
          <a:xfrm>
            <a:off x="181610" y="5405755"/>
            <a:ext cx="10527665" cy="1521460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zh-CN" altLang="zh-HK"/>
              <a:t>内核层</a:t>
            </a:r>
          </a:p>
        </p:txBody>
      </p:sp>
      <p:sp>
        <p:nvSpPr>
          <p:cNvPr id="51" name="矩形 50"/>
          <p:cNvSpPr/>
          <p:nvPr/>
        </p:nvSpPr>
        <p:spPr>
          <a:xfrm>
            <a:off x="2172970" y="5467350"/>
            <a:ext cx="1687830" cy="13906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sp>
        <p:nvSpPr>
          <p:cNvPr id="52" name="圓角矩形 51"/>
          <p:cNvSpPr/>
          <p:nvPr/>
        </p:nvSpPr>
        <p:spPr>
          <a:xfrm>
            <a:off x="2626995" y="3699510"/>
            <a:ext cx="727710" cy="37465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HK" sz="1200"/>
              <a:t>TCP</a:t>
            </a:r>
          </a:p>
        </p:txBody>
      </p:sp>
      <p:sp>
        <p:nvSpPr>
          <p:cNvPr id="53" name="文字框 52"/>
          <p:cNvSpPr txBox="1"/>
          <p:nvPr/>
        </p:nvSpPr>
        <p:spPr>
          <a:xfrm>
            <a:off x="2516505" y="3275330"/>
            <a:ext cx="107188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HK" sz="1400"/>
              <a:t>网络传输</a:t>
            </a:r>
          </a:p>
        </p:txBody>
      </p:sp>
      <p:sp>
        <p:nvSpPr>
          <p:cNvPr id="54" name="圓角矩形 53"/>
          <p:cNvSpPr/>
          <p:nvPr/>
        </p:nvSpPr>
        <p:spPr>
          <a:xfrm>
            <a:off x="2572385" y="4505325"/>
            <a:ext cx="782320" cy="37020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网络</a:t>
            </a:r>
            <a:r>
              <a:rPr lang="en-US" altLang="zh-CN" sz="1200"/>
              <a:t>IO</a:t>
            </a:r>
          </a:p>
        </p:txBody>
      </p:sp>
      <p:sp>
        <p:nvSpPr>
          <p:cNvPr id="55" name="文字框 54"/>
          <p:cNvSpPr txBox="1"/>
          <p:nvPr/>
        </p:nvSpPr>
        <p:spPr>
          <a:xfrm>
            <a:off x="1536700" y="3275330"/>
            <a:ext cx="76517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HK" sz="1400"/>
              <a:t>协议层</a:t>
            </a:r>
          </a:p>
        </p:txBody>
      </p:sp>
      <p:sp>
        <p:nvSpPr>
          <p:cNvPr id="57" name="矩形 56"/>
          <p:cNvSpPr/>
          <p:nvPr/>
        </p:nvSpPr>
        <p:spPr>
          <a:xfrm>
            <a:off x="10004425" y="2648585"/>
            <a:ext cx="628650" cy="2551430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后期增加</a:t>
            </a:r>
            <a:r>
              <a:rPr lang="en-US" altLang="zh-HK" dirty="0" smtClean="0"/>
              <a:t>GPU</a:t>
            </a:r>
            <a:r>
              <a:rPr lang="zh-CN" altLang="en-US" dirty="0" smtClean="0"/>
              <a:t>模块</a:t>
            </a:r>
            <a:endParaRPr lang="zh-CN" altLang="en-US" dirty="0"/>
          </a:p>
        </p:txBody>
      </p:sp>
      <p:sp>
        <p:nvSpPr>
          <p:cNvPr id="58" name="圓角矩形 57"/>
          <p:cNvSpPr/>
          <p:nvPr/>
        </p:nvSpPr>
        <p:spPr>
          <a:xfrm>
            <a:off x="1568450" y="3648710"/>
            <a:ext cx="733425" cy="76327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高效压缩数据格式</a:t>
            </a:r>
          </a:p>
        </p:txBody>
      </p:sp>
      <p:sp>
        <p:nvSpPr>
          <p:cNvPr id="59" name="文字框 58"/>
          <p:cNvSpPr txBox="1"/>
          <p:nvPr/>
        </p:nvSpPr>
        <p:spPr>
          <a:xfrm>
            <a:off x="8842375" y="3213100"/>
            <a:ext cx="100647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zh-HK" sz="1200"/>
              <a:t>网络传输</a:t>
            </a:r>
          </a:p>
        </p:txBody>
      </p:sp>
      <p:sp>
        <p:nvSpPr>
          <p:cNvPr id="60" name="圓角矩形 59"/>
          <p:cNvSpPr/>
          <p:nvPr/>
        </p:nvSpPr>
        <p:spPr>
          <a:xfrm>
            <a:off x="8975090" y="3582035"/>
            <a:ext cx="741680" cy="35750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/>
              <a:t>UDP</a:t>
            </a:r>
            <a:endParaRPr lang="zh-CN" altLang="en-US" sz="1200"/>
          </a:p>
        </p:txBody>
      </p:sp>
      <p:sp>
        <p:nvSpPr>
          <p:cNvPr id="61" name="圓角矩形 60"/>
          <p:cNvSpPr/>
          <p:nvPr/>
        </p:nvSpPr>
        <p:spPr>
          <a:xfrm>
            <a:off x="8921115" y="4518025"/>
            <a:ext cx="741680" cy="35750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/>
              <a:t>网络</a:t>
            </a:r>
            <a:r>
              <a:rPr lang="en-US" altLang="zh-CN" sz="1200"/>
              <a:t>IO</a:t>
            </a:r>
          </a:p>
        </p:txBody>
      </p:sp>
      <p:sp>
        <p:nvSpPr>
          <p:cNvPr id="62" name="文字框 61"/>
          <p:cNvSpPr txBox="1"/>
          <p:nvPr/>
        </p:nvSpPr>
        <p:spPr>
          <a:xfrm>
            <a:off x="7839075" y="3181985"/>
            <a:ext cx="7207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HK" sz="1400"/>
              <a:t>协议层</a:t>
            </a:r>
          </a:p>
        </p:txBody>
      </p:sp>
      <p:sp>
        <p:nvSpPr>
          <p:cNvPr id="63" name="圓角矩形 62"/>
          <p:cNvSpPr/>
          <p:nvPr/>
        </p:nvSpPr>
        <p:spPr>
          <a:xfrm>
            <a:off x="7814945" y="3582035"/>
            <a:ext cx="684530" cy="32321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HK" sz="1200"/>
              <a:t>P2P</a:t>
            </a:r>
          </a:p>
        </p:txBody>
      </p:sp>
      <p:sp>
        <p:nvSpPr>
          <p:cNvPr id="64" name="圓角矩形 63"/>
          <p:cNvSpPr/>
          <p:nvPr/>
        </p:nvSpPr>
        <p:spPr>
          <a:xfrm>
            <a:off x="7767955" y="4552315"/>
            <a:ext cx="899160" cy="32321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/>
              <a:t>丢包处理</a:t>
            </a:r>
          </a:p>
        </p:txBody>
      </p:sp>
      <p:sp>
        <p:nvSpPr>
          <p:cNvPr id="65" name="文字框 64"/>
          <p:cNvSpPr txBox="1"/>
          <p:nvPr/>
        </p:nvSpPr>
        <p:spPr>
          <a:xfrm>
            <a:off x="2731770" y="5542915"/>
            <a:ext cx="51816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HK" sz="1200"/>
              <a:t>容器</a:t>
            </a:r>
          </a:p>
        </p:txBody>
      </p:sp>
      <p:sp>
        <p:nvSpPr>
          <p:cNvPr id="66" name="圓角矩形 65"/>
          <p:cNvSpPr/>
          <p:nvPr/>
        </p:nvSpPr>
        <p:spPr>
          <a:xfrm>
            <a:off x="2218055" y="5818505"/>
            <a:ext cx="749300" cy="33528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HK" sz="1200"/>
              <a:t>win</a:t>
            </a:r>
            <a:r>
              <a:rPr lang="zh-CN" altLang="en-US" sz="1200"/>
              <a:t>沙盒</a:t>
            </a:r>
          </a:p>
        </p:txBody>
      </p:sp>
      <p:sp>
        <p:nvSpPr>
          <p:cNvPr id="67" name="圓角矩形 66"/>
          <p:cNvSpPr/>
          <p:nvPr/>
        </p:nvSpPr>
        <p:spPr>
          <a:xfrm>
            <a:off x="3030220" y="5818505"/>
            <a:ext cx="806450" cy="33528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/>
              <a:t>android</a:t>
            </a:r>
            <a:r>
              <a:rPr lang="zh-CN" altLang="en-US" sz="1200"/>
              <a:t>容器</a:t>
            </a:r>
          </a:p>
        </p:txBody>
      </p:sp>
      <p:sp>
        <p:nvSpPr>
          <p:cNvPr id="68" name="圓角矩形 67"/>
          <p:cNvSpPr/>
          <p:nvPr/>
        </p:nvSpPr>
        <p:spPr>
          <a:xfrm>
            <a:off x="2247900" y="6376670"/>
            <a:ext cx="718820" cy="33528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sz="1200"/>
              <a:t>设备多实例化</a:t>
            </a:r>
          </a:p>
        </p:txBody>
      </p:sp>
      <p:sp>
        <p:nvSpPr>
          <p:cNvPr id="69" name="圓角矩形 68"/>
          <p:cNvSpPr/>
          <p:nvPr/>
        </p:nvSpPr>
        <p:spPr>
          <a:xfrm>
            <a:off x="3030220" y="6376670"/>
            <a:ext cx="830580" cy="33528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sz="1200"/>
              <a:t>资源隔离</a:t>
            </a:r>
          </a:p>
        </p:txBody>
      </p:sp>
      <p:sp>
        <p:nvSpPr>
          <p:cNvPr id="70" name="矩形 69"/>
          <p:cNvSpPr/>
          <p:nvPr/>
        </p:nvSpPr>
        <p:spPr>
          <a:xfrm>
            <a:off x="6178550" y="5467350"/>
            <a:ext cx="3185160" cy="146939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sp>
        <p:nvSpPr>
          <p:cNvPr id="71" name="文字框 70"/>
          <p:cNvSpPr txBox="1"/>
          <p:nvPr/>
        </p:nvSpPr>
        <p:spPr>
          <a:xfrm>
            <a:off x="6797675" y="5467350"/>
            <a:ext cx="204470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HK" sz="1400"/>
              <a:t>云端虚拟设备映射</a:t>
            </a:r>
          </a:p>
        </p:txBody>
      </p:sp>
      <p:sp>
        <p:nvSpPr>
          <p:cNvPr id="72" name="圓角矩形 71"/>
          <p:cNvSpPr/>
          <p:nvPr/>
        </p:nvSpPr>
        <p:spPr>
          <a:xfrm>
            <a:off x="6283960" y="5835650"/>
            <a:ext cx="1426845" cy="35306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虚拟设备通信协议接口</a:t>
            </a:r>
          </a:p>
        </p:txBody>
      </p:sp>
      <p:sp>
        <p:nvSpPr>
          <p:cNvPr id="73" name="圓角矩形 72"/>
          <p:cNvSpPr/>
          <p:nvPr/>
        </p:nvSpPr>
        <p:spPr>
          <a:xfrm>
            <a:off x="7983220" y="5835650"/>
            <a:ext cx="1257300" cy="35306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设备虚拟化</a:t>
            </a:r>
          </a:p>
        </p:txBody>
      </p:sp>
      <p:sp>
        <p:nvSpPr>
          <p:cNvPr id="74" name="圓角矩形 73"/>
          <p:cNvSpPr/>
          <p:nvPr/>
        </p:nvSpPr>
        <p:spPr>
          <a:xfrm>
            <a:off x="6283960" y="6421755"/>
            <a:ext cx="1426845" cy="35306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外设设备数据注入</a:t>
            </a:r>
          </a:p>
        </p:txBody>
      </p:sp>
      <p:sp>
        <p:nvSpPr>
          <p:cNvPr id="75" name="圓角矩形 74"/>
          <p:cNvSpPr/>
          <p:nvPr/>
        </p:nvSpPr>
        <p:spPr>
          <a:xfrm>
            <a:off x="7839075" y="6421755"/>
            <a:ext cx="1426845" cy="35306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设备地址空间转换</a:t>
            </a:r>
          </a:p>
        </p:txBody>
      </p:sp>
      <p:sp>
        <p:nvSpPr>
          <p:cNvPr id="76" name="圓角矩形 75"/>
          <p:cNvSpPr/>
          <p:nvPr/>
        </p:nvSpPr>
        <p:spPr>
          <a:xfrm>
            <a:off x="10633710" y="415925"/>
            <a:ext cx="1501140" cy="1962150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sp>
        <p:nvSpPr>
          <p:cNvPr id="77" name="文字框 76"/>
          <p:cNvSpPr txBox="1"/>
          <p:nvPr/>
        </p:nvSpPr>
        <p:spPr>
          <a:xfrm>
            <a:off x="10807065" y="581660"/>
            <a:ext cx="406400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HK" sz="1400">
                <a:solidFill>
                  <a:schemeClr val="bg1"/>
                </a:solidFill>
              </a:rPr>
              <a:t>大数据平台</a:t>
            </a:r>
          </a:p>
        </p:txBody>
      </p:sp>
      <p:sp>
        <p:nvSpPr>
          <p:cNvPr id="79" name="圓角矩形 78"/>
          <p:cNvSpPr/>
          <p:nvPr/>
        </p:nvSpPr>
        <p:spPr>
          <a:xfrm>
            <a:off x="10793095" y="982980"/>
            <a:ext cx="1182370" cy="24066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大数据接口层</a:t>
            </a:r>
          </a:p>
        </p:txBody>
      </p:sp>
      <p:sp>
        <p:nvSpPr>
          <p:cNvPr id="80" name="圓角矩形 79"/>
          <p:cNvSpPr/>
          <p:nvPr/>
        </p:nvSpPr>
        <p:spPr>
          <a:xfrm>
            <a:off x="10793095" y="1842135"/>
            <a:ext cx="1182370" cy="42926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大数据存储</a:t>
            </a:r>
          </a:p>
        </p:txBody>
      </p:sp>
      <p:sp>
        <p:nvSpPr>
          <p:cNvPr id="81" name="圓角矩形 80"/>
          <p:cNvSpPr/>
          <p:nvPr/>
        </p:nvSpPr>
        <p:spPr>
          <a:xfrm>
            <a:off x="10709275" y="1452245"/>
            <a:ext cx="1398270" cy="24066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200"/>
              <a:t>数据处理与分析</a:t>
            </a:r>
          </a:p>
        </p:txBody>
      </p:sp>
      <p:sp>
        <p:nvSpPr>
          <p:cNvPr id="82" name="圓角矩形 81"/>
          <p:cNvSpPr/>
          <p:nvPr/>
        </p:nvSpPr>
        <p:spPr>
          <a:xfrm>
            <a:off x="10739755" y="2537460"/>
            <a:ext cx="1440180" cy="4307205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sp>
        <p:nvSpPr>
          <p:cNvPr id="83" name="文字框 82"/>
          <p:cNvSpPr txBox="1"/>
          <p:nvPr/>
        </p:nvSpPr>
        <p:spPr>
          <a:xfrm>
            <a:off x="10891520" y="2849880"/>
            <a:ext cx="121539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HK" sz="1200">
                <a:solidFill>
                  <a:schemeClr val="bg1"/>
                </a:solidFill>
              </a:rPr>
              <a:t>智能运营平台</a:t>
            </a:r>
          </a:p>
        </p:txBody>
      </p:sp>
      <p:sp>
        <p:nvSpPr>
          <p:cNvPr id="84" name="圓角矩形 83"/>
          <p:cNvSpPr/>
          <p:nvPr/>
        </p:nvSpPr>
        <p:spPr>
          <a:xfrm>
            <a:off x="10891520" y="3275330"/>
            <a:ext cx="1091565" cy="29781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000"/>
              <a:t>统一门户入口</a:t>
            </a:r>
          </a:p>
        </p:txBody>
      </p:sp>
      <p:sp>
        <p:nvSpPr>
          <p:cNvPr id="85" name="圓角矩形 84"/>
          <p:cNvSpPr/>
          <p:nvPr/>
        </p:nvSpPr>
        <p:spPr>
          <a:xfrm>
            <a:off x="10891520" y="3700145"/>
            <a:ext cx="1091565" cy="29781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000"/>
              <a:t>集中报警平台</a:t>
            </a:r>
          </a:p>
        </p:txBody>
      </p:sp>
      <p:sp>
        <p:nvSpPr>
          <p:cNvPr id="86" name="圓角矩形 85"/>
          <p:cNvSpPr/>
          <p:nvPr/>
        </p:nvSpPr>
        <p:spPr>
          <a:xfrm>
            <a:off x="10891520" y="4207510"/>
            <a:ext cx="1091565" cy="29781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000"/>
              <a:t>服务流程管理</a:t>
            </a:r>
          </a:p>
        </p:txBody>
      </p:sp>
      <p:sp>
        <p:nvSpPr>
          <p:cNvPr id="87" name="圓角矩形 86"/>
          <p:cNvSpPr/>
          <p:nvPr/>
        </p:nvSpPr>
        <p:spPr>
          <a:xfrm>
            <a:off x="10891520" y="4652010"/>
            <a:ext cx="1091565" cy="29781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000"/>
              <a:t>配置中心</a:t>
            </a:r>
          </a:p>
        </p:txBody>
      </p:sp>
      <p:sp>
        <p:nvSpPr>
          <p:cNvPr id="88" name="圓角矩形 87"/>
          <p:cNvSpPr/>
          <p:nvPr/>
        </p:nvSpPr>
        <p:spPr>
          <a:xfrm>
            <a:off x="10914380" y="5169535"/>
            <a:ext cx="1091565" cy="29781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1000"/>
              <a:t>资产管理</a:t>
            </a:r>
          </a:p>
        </p:txBody>
      </p:sp>
      <p:sp>
        <p:nvSpPr>
          <p:cNvPr id="89" name="圓角矩形 88"/>
          <p:cNvSpPr/>
          <p:nvPr/>
        </p:nvSpPr>
        <p:spPr>
          <a:xfrm>
            <a:off x="10914380" y="5685790"/>
            <a:ext cx="1091565" cy="29781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HK" sz="800"/>
              <a:t>数据及消息中间件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1900450" y="409337"/>
            <a:ext cx="3507475" cy="20335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 algn="ctr"/>
            <a:endParaRPr lang="zh-CN" altLang="en-US" sz="1200" dirty="0"/>
          </a:p>
        </p:txBody>
      </p:sp>
      <p:sp>
        <p:nvSpPr>
          <p:cNvPr id="5" name="矩形 4"/>
          <p:cNvSpPr/>
          <p:nvPr/>
        </p:nvSpPr>
        <p:spPr>
          <a:xfrm>
            <a:off x="2511187" y="2067637"/>
            <a:ext cx="1978926" cy="36848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自营云电脑平台</a:t>
            </a:r>
            <a:endParaRPr lang="zh-CN" altLang="en-US" dirty="0"/>
          </a:p>
        </p:txBody>
      </p:sp>
      <p:sp>
        <p:nvSpPr>
          <p:cNvPr id="6" name="圆角矩形 5"/>
          <p:cNvSpPr/>
          <p:nvPr/>
        </p:nvSpPr>
        <p:spPr>
          <a:xfrm>
            <a:off x="2111991" y="716505"/>
            <a:ext cx="1480782" cy="286603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登录</a:t>
            </a:r>
            <a:r>
              <a:rPr lang="en-US" altLang="zh-CN" dirty="0" smtClean="0"/>
              <a:t>/</a:t>
            </a:r>
            <a:r>
              <a:rPr lang="zh-CN" altLang="en-US" dirty="0" smtClean="0"/>
              <a:t>注册</a:t>
            </a:r>
            <a:endParaRPr lang="zh-CN" altLang="en-US" dirty="0"/>
          </a:p>
        </p:txBody>
      </p:sp>
      <p:sp>
        <p:nvSpPr>
          <p:cNvPr id="7" name="圆角矩形 6"/>
          <p:cNvSpPr/>
          <p:nvPr/>
        </p:nvSpPr>
        <p:spPr>
          <a:xfrm>
            <a:off x="2111991" y="1204366"/>
            <a:ext cx="1480782" cy="286603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订单管理</a:t>
            </a:r>
            <a:endParaRPr lang="zh-CN" altLang="en-US" dirty="0"/>
          </a:p>
        </p:txBody>
      </p:sp>
      <p:sp>
        <p:nvSpPr>
          <p:cNvPr id="8" name="圆角矩形 7"/>
          <p:cNvSpPr/>
          <p:nvPr/>
        </p:nvSpPr>
        <p:spPr>
          <a:xfrm>
            <a:off x="2111991" y="1637166"/>
            <a:ext cx="1480782" cy="286603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充值管理</a:t>
            </a:r>
            <a:endParaRPr lang="zh-CN" altLang="en-US" dirty="0"/>
          </a:p>
        </p:txBody>
      </p:sp>
      <p:sp>
        <p:nvSpPr>
          <p:cNvPr id="9" name="圆角矩形 8"/>
          <p:cNvSpPr/>
          <p:nvPr/>
        </p:nvSpPr>
        <p:spPr>
          <a:xfrm>
            <a:off x="3695853" y="716506"/>
            <a:ext cx="1480782" cy="286603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用户管理</a:t>
            </a:r>
            <a:endParaRPr lang="zh-CN" altLang="en-US" dirty="0"/>
          </a:p>
        </p:txBody>
      </p:sp>
      <p:sp>
        <p:nvSpPr>
          <p:cNvPr id="10" name="圆角矩形 9"/>
          <p:cNvSpPr/>
          <p:nvPr/>
        </p:nvSpPr>
        <p:spPr>
          <a:xfrm>
            <a:off x="3695853" y="1207825"/>
            <a:ext cx="1480782" cy="286603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营销活动</a:t>
            </a:r>
            <a:endParaRPr lang="zh-CN" altLang="en-US" dirty="0"/>
          </a:p>
        </p:txBody>
      </p:sp>
      <p:sp>
        <p:nvSpPr>
          <p:cNvPr id="11" name="圆角矩形 10"/>
          <p:cNvSpPr/>
          <p:nvPr/>
        </p:nvSpPr>
        <p:spPr>
          <a:xfrm>
            <a:off x="3695853" y="1669465"/>
            <a:ext cx="1480782" cy="286603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包时卡</a:t>
            </a:r>
            <a:endParaRPr lang="zh-CN" altLang="en-US" dirty="0"/>
          </a:p>
        </p:txBody>
      </p:sp>
      <p:sp>
        <p:nvSpPr>
          <p:cNvPr id="12" name="矩形 11"/>
          <p:cNvSpPr/>
          <p:nvPr/>
        </p:nvSpPr>
        <p:spPr>
          <a:xfrm>
            <a:off x="6991787" y="498143"/>
            <a:ext cx="3254991" cy="186974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/>
          <p:cNvSpPr/>
          <p:nvPr/>
        </p:nvSpPr>
        <p:spPr>
          <a:xfrm>
            <a:off x="7841361" y="1917925"/>
            <a:ext cx="1555845" cy="3411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三方流量入口</a:t>
            </a:r>
            <a:endParaRPr lang="zh-CN" altLang="en-US" dirty="0"/>
          </a:p>
        </p:txBody>
      </p:sp>
      <p:sp>
        <p:nvSpPr>
          <p:cNvPr id="14" name="矩形 13"/>
          <p:cNvSpPr/>
          <p:nvPr/>
        </p:nvSpPr>
        <p:spPr>
          <a:xfrm>
            <a:off x="7319334" y="786456"/>
            <a:ext cx="1044054" cy="286603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淘宝</a:t>
            </a:r>
            <a:endParaRPr lang="zh-CN" altLang="en-US" dirty="0"/>
          </a:p>
        </p:txBody>
      </p:sp>
      <p:sp>
        <p:nvSpPr>
          <p:cNvPr id="15" name="矩形 14"/>
          <p:cNvSpPr/>
          <p:nvPr/>
        </p:nvSpPr>
        <p:spPr>
          <a:xfrm>
            <a:off x="8811077" y="795242"/>
            <a:ext cx="1044054" cy="286603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京东</a:t>
            </a:r>
            <a:endParaRPr lang="zh-CN" altLang="en-US" dirty="0"/>
          </a:p>
        </p:txBody>
      </p:sp>
      <p:sp>
        <p:nvSpPr>
          <p:cNvPr id="16" name="矩形 15"/>
          <p:cNvSpPr/>
          <p:nvPr/>
        </p:nvSpPr>
        <p:spPr>
          <a:xfrm>
            <a:off x="7310544" y="1332374"/>
            <a:ext cx="1044054" cy="286603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 smtClean="0"/>
              <a:t>bilibili</a:t>
            </a:r>
            <a:endParaRPr lang="zh-CN" altLang="en-US" dirty="0"/>
          </a:p>
        </p:txBody>
      </p:sp>
      <p:sp>
        <p:nvSpPr>
          <p:cNvPr id="17" name="矩形 16"/>
          <p:cNvSpPr/>
          <p:nvPr/>
        </p:nvSpPr>
        <p:spPr>
          <a:xfrm>
            <a:off x="8811077" y="1298034"/>
            <a:ext cx="1044054" cy="286603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抖音</a:t>
            </a:r>
            <a:endParaRPr lang="zh-CN" altLang="en-US" dirty="0"/>
          </a:p>
        </p:txBody>
      </p:sp>
      <p:sp>
        <p:nvSpPr>
          <p:cNvPr id="18" name="矩形 17"/>
          <p:cNvSpPr/>
          <p:nvPr/>
        </p:nvSpPr>
        <p:spPr>
          <a:xfrm>
            <a:off x="675564" y="3193576"/>
            <a:ext cx="10645254" cy="186291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 18"/>
          <p:cNvSpPr/>
          <p:nvPr/>
        </p:nvSpPr>
        <p:spPr>
          <a:xfrm>
            <a:off x="4490113" y="3323230"/>
            <a:ext cx="3036627" cy="2320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统一调度平台</a:t>
            </a:r>
            <a:endParaRPr lang="zh-CN" altLang="en-US" dirty="0"/>
          </a:p>
        </p:txBody>
      </p:sp>
      <p:sp>
        <p:nvSpPr>
          <p:cNvPr id="20" name="圆角矩形 19"/>
          <p:cNvSpPr/>
          <p:nvPr/>
        </p:nvSpPr>
        <p:spPr>
          <a:xfrm>
            <a:off x="3770193" y="3766785"/>
            <a:ext cx="4258101" cy="327543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平台</a:t>
            </a:r>
            <a:r>
              <a:rPr lang="en-US" altLang="zh-CN" dirty="0" err="1" smtClean="0"/>
              <a:t>Api</a:t>
            </a:r>
            <a:r>
              <a:rPr lang="en-US" altLang="zh-CN" dirty="0" smtClean="0"/>
              <a:t>/SDK</a:t>
            </a:r>
            <a:endParaRPr lang="zh-CN" altLang="en-US" dirty="0"/>
          </a:p>
        </p:txBody>
      </p:sp>
      <p:sp>
        <p:nvSpPr>
          <p:cNvPr id="21" name="矩形 20"/>
          <p:cNvSpPr/>
          <p:nvPr/>
        </p:nvSpPr>
        <p:spPr>
          <a:xfrm>
            <a:off x="1125940" y="4176215"/>
            <a:ext cx="1330657" cy="252484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资源管理</a:t>
            </a:r>
            <a:endParaRPr lang="zh-CN" altLang="en-US" dirty="0"/>
          </a:p>
        </p:txBody>
      </p:sp>
      <p:sp>
        <p:nvSpPr>
          <p:cNvPr id="22" name="矩形 21"/>
          <p:cNvSpPr/>
          <p:nvPr/>
        </p:nvSpPr>
        <p:spPr>
          <a:xfrm>
            <a:off x="5343097" y="4237631"/>
            <a:ext cx="1330657" cy="252484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安全鉴权</a:t>
            </a:r>
            <a:endParaRPr lang="zh-CN" altLang="en-US" dirty="0"/>
          </a:p>
        </p:txBody>
      </p:sp>
      <p:sp>
        <p:nvSpPr>
          <p:cNvPr id="23" name="矩形 22"/>
          <p:cNvSpPr/>
          <p:nvPr/>
        </p:nvSpPr>
        <p:spPr>
          <a:xfrm>
            <a:off x="9248633" y="4254692"/>
            <a:ext cx="1330657" cy="252484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订单管理</a:t>
            </a:r>
            <a:endParaRPr lang="zh-CN" altLang="en-US" dirty="0"/>
          </a:p>
        </p:txBody>
      </p:sp>
      <p:sp>
        <p:nvSpPr>
          <p:cNvPr id="24" name="矩形 23"/>
          <p:cNvSpPr/>
          <p:nvPr/>
        </p:nvSpPr>
        <p:spPr>
          <a:xfrm>
            <a:off x="1125940" y="4697105"/>
            <a:ext cx="1330657" cy="252484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调度方管理</a:t>
            </a:r>
            <a:endParaRPr lang="zh-CN" altLang="en-US" dirty="0"/>
          </a:p>
        </p:txBody>
      </p:sp>
      <p:sp>
        <p:nvSpPr>
          <p:cNvPr id="25" name="矩形 24"/>
          <p:cNvSpPr/>
          <p:nvPr/>
        </p:nvSpPr>
        <p:spPr>
          <a:xfrm>
            <a:off x="5406788" y="4694829"/>
            <a:ext cx="1330657" cy="252484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资源方管理</a:t>
            </a:r>
            <a:endParaRPr lang="zh-CN" altLang="en-US" dirty="0"/>
          </a:p>
        </p:txBody>
      </p:sp>
      <p:sp>
        <p:nvSpPr>
          <p:cNvPr id="26" name="矩形 25"/>
          <p:cNvSpPr/>
          <p:nvPr/>
        </p:nvSpPr>
        <p:spPr>
          <a:xfrm>
            <a:off x="9248633" y="4713026"/>
            <a:ext cx="1330657" cy="252484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收益管理</a:t>
            </a:r>
            <a:endParaRPr lang="zh-CN" altLang="en-US" dirty="0"/>
          </a:p>
        </p:txBody>
      </p:sp>
      <p:sp>
        <p:nvSpPr>
          <p:cNvPr id="2" name="上箭头 1"/>
          <p:cNvSpPr/>
          <p:nvPr/>
        </p:nvSpPr>
        <p:spPr>
          <a:xfrm>
            <a:off x="4589058" y="2616959"/>
            <a:ext cx="2620370" cy="532263"/>
          </a:xfrm>
          <a:prstGeom prst="up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整合输出</a:t>
            </a:r>
            <a:endParaRPr lang="zh-CN" altLang="en-US" dirty="0"/>
          </a:p>
        </p:txBody>
      </p:sp>
      <p:sp>
        <p:nvSpPr>
          <p:cNvPr id="3" name="矩形 2"/>
          <p:cNvSpPr/>
          <p:nvPr/>
        </p:nvSpPr>
        <p:spPr>
          <a:xfrm>
            <a:off x="893928" y="6039135"/>
            <a:ext cx="2013044" cy="8188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自营机房</a:t>
            </a:r>
            <a:endParaRPr lang="zh-CN" altLang="en-US" dirty="0"/>
          </a:p>
        </p:txBody>
      </p:sp>
      <p:sp>
        <p:nvSpPr>
          <p:cNvPr id="27" name="矩形 26"/>
          <p:cNvSpPr/>
          <p:nvPr/>
        </p:nvSpPr>
        <p:spPr>
          <a:xfrm>
            <a:off x="4892721" y="6039133"/>
            <a:ext cx="2013044" cy="8188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网吧</a:t>
            </a:r>
            <a:endParaRPr lang="zh-CN" altLang="en-US" dirty="0"/>
          </a:p>
        </p:txBody>
      </p:sp>
      <p:sp>
        <p:nvSpPr>
          <p:cNvPr id="28" name="矩形 27"/>
          <p:cNvSpPr/>
          <p:nvPr/>
        </p:nvSpPr>
        <p:spPr>
          <a:xfrm>
            <a:off x="8027726" y="6039134"/>
            <a:ext cx="2013044" cy="8188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阿里云</a:t>
            </a:r>
            <a:endParaRPr lang="zh-CN" altLang="en-US" dirty="0"/>
          </a:p>
        </p:txBody>
      </p:sp>
      <p:sp>
        <p:nvSpPr>
          <p:cNvPr id="29" name="上箭头 28"/>
          <p:cNvSpPr/>
          <p:nvPr/>
        </p:nvSpPr>
        <p:spPr>
          <a:xfrm>
            <a:off x="4234218" y="5295333"/>
            <a:ext cx="3527946" cy="416256"/>
          </a:xfrm>
          <a:prstGeom prst="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资源接入</a:t>
            </a:r>
            <a:endParaRPr lang="zh-CN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019432"/>
            <a:ext cx="10515600" cy="5138996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5" name="流程图: 过程 4"/>
          <p:cNvSpPr/>
          <p:nvPr/>
        </p:nvSpPr>
        <p:spPr>
          <a:xfrm>
            <a:off x="1161535" y="1062680"/>
            <a:ext cx="3898557" cy="3935628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2304534" y="1062681"/>
            <a:ext cx="1952368" cy="3608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CRTC SDK</a:t>
            </a:r>
            <a:endParaRPr lang="zh-CN" altLang="en-US" dirty="0"/>
          </a:p>
        </p:txBody>
      </p:sp>
      <p:sp>
        <p:nvSpPr>
          <p:cNvPr id="7" name="矩形 6"/>
          <p:cNvSpPr/>
          <p:nvPr/>
        </p:nvSpPr>
        <p:spPr>
          <a:xfrm>
            <a:off x="1263478" y="1748481"/>
            <a:ext cx="1847335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Media Engine</a:t>
            </a:r>
            <a:endParaRPr lang="zh-CN" altLang="en-US" dirty="0"/>
          </a:p>
        </p:txBody>
      </p:sp>
      <p:sp>
        <p:nvSpPr>
          <p:cNvPr id="8" name="矩形 7"/>
          <p:cNvSpPr/>
          <p:nvPr/>
        </p:nvSpPr>
        <p:spPr>
          <a:xfrm>
            <a:off x="3161785" y="1748481"/>
            <a:ext cx="1847335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Transport</a:t>
            </a:r>
            <a:endParaRPr lang="zh-CN" altLang="en-US" dirty="0"/>
          </a:p>
        </p:txBody>
      </p:sp>
      <p:sp>
        <p:nvSpPr>
          <p:cNvPr id="9" name="矩形 8"/>
          <p:cNvSpPr/>
          <p:nvPr/>
        </p:nvSpPr>
        <p:spPr>
          <a:xfrm>
            <a:off x="1468908" y="2231013"/>
            <a:ext cx="1280471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Codec</a:t>
            </a:r>
            <a:endParaRPr lang="zh-CN" altLang="en-US" dirty="0"/>
          </a:p>
        </p:txBody>
      </p:sp>
      <p:sp>
        <p:nvSpPr>
          <p:cNvPr id="10" name="矩形 9"/>
          <p:cNvSpPr/>
          <p:nvPr/>
        </p:nvSpPr>
        <p:spPr>
          <a:xfrm>
            <a:off x="1468908" y="2633752"/>
            <a:ext cx="1231043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Capture</a:t>
            </a:r>
            <a:endParaRPr lang="zh-CN" altLang="en-US" dirty="0"/>
          </a:p>
        </p:txBody>
      </p:sp>
      <p:sp>
        <p:nvSpPr>
          <p:cNvPr id="11" name="矩形 10"/>
          <p:cNvSpPr/>
          <p:nvPr/>
        </p:nvSpPr>
        <p:spPr>
          <a:xfrm>
            <a:off x="1468907" y="3033893"/>
            <a:ext cx="1231043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Render</a:t>
            </a:r>
            <a:endParaRPr lang="zh-CN" altLang="en-US" dirty="0"/>
          </a:p>
        </p:txBody>
      </p:sp>
      <p:sp>
        <p:nvSpPr>
          <p:cNvPr id="12" name="矩形 11"/>
          <p:cNvSpPr/>
          <p:nvPr/>
        </p:nvSpPr>
        <p:spPr>
          <a:xfrm>
            <a:off x="3382146" y="2186849"/>
            <a:ext cx="1231043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UDP/TCP</a:t>
            </a:r>
            <a:endParaRPr lang="zh-CN" altLang="en-US" dirty="0"/>
          </a:p>
        </p:txBody>
      </p:sp>
      <p:sp>
        <p:nvSpPr>
          <p:cNvPr id="13" name="矩形 12"/>
          <p:cNvSpPr/>
          <p:nvPr/>
        </p:nvSpPr>
        <p:spPr>
          <a:xfrm>
            <a:off x="3382145" y="2591829"/>
            <a:ext cx="1231043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RSFEC</a:t>
            </a:r>
            <a:endParaRPr lang="zh-CN" altLang="en-US" dirty="0"/>
          </a:p>
        </p:txBody>
      </p:sp>
      <p:sp>
        <p:nvSpPr>
          <p:cNvPr id="14" name="矩形 13"/>
          <p:cNvSpPr/>
          <p:nvPr/>
        </p:nvSpPr>
        <p:spPr>
          <a:xfrm>
            <a:off x="3382144" y="3001443"/>
            <a:ext cx="1231043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NACK</a:t>
            </a:r>
            <a:endParaRPr lang="zh-CN" altLang="en-US" dirty="0"/>
          </a:p>
        </p:txBody>
      </p:sp>
      <p:sp>
        <p:nvSpPr>
          <p:cNvPr id="15" name="矩形 14"/>
          <p:cNvSpPr/>
          <p:nvPr/>
        </p:nvSpPr>
        <p:spPr>
          <a:xfrm>
            <a:off x="1444193" y="3475249"/>
            <a:ext cx="1231043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Process</a:t>
            </a:r>
            <a:endParaRPr lang="zh-CN" altLang="en-US" dirty="0"/>
          </a:p>
        </p:txBody>
      </p:sp>
      <p:sp>
        <p:nvSpPr>
          <p:cNvPr id="16" name="矩形 15"/>
          <p:cNvSpPr/>
          <p:nvPr/>
        </p:nvSpPr>
        <p:spPr>
          <a:xfrm>
            <a:off x="3394755" y="3439811"/>
            <a:ext cx="1231043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BWE</a:t>
            </a:r>
            <a:endParaRPr lang="zh-CN" altLang="en-US" dirty="0"/>
          </a:p>
        </p:txBody>
      </p:sp>
      <p:sp>
        <p:nvSpPr>
          <p:cNvPr id="17" name="矩形 16"/>
          <p:cNvSpPr/>
          <p:nvPr/>
        </p:nvSpPr>
        <p:spPr>
          <a:xfrm>
            <a:off x="1468906" y="3957781"/>
            <a:ext cx="1231043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Coding</a:t>
            </a:r>
            <a:endParaRPr lang="zh-CN" altLang="en-US" dirty="0"/>
          </a:p>
        </p:txBody>
      </p:sp>
      <p:sp>
        <p:nvSpPr>
          <p:cNvPr id="18" name="矩形 17"/>
          <p:cNvSpPr/>
          <p:nvPr/>
        </p:nvSpPr>
        <p:spPr>
          <a:xfrm>
            <a:off x="3351761" y="3957781"/>
            <a:ext cx="1535336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Signal V1/V2</a:t>
            </a:r>
            <a:endParaRPr lang="zh-CN" altLang="en-US" dirty="0"/>
          </a:p>
        </p:txBody>
      </p:sp>
      <p:sp>
        <p:nvSpPr>
          <p:cNvPr id="19" name="矩形 18"/>
          <p:cNvSpPr/>
          <p:nvPr/>
        </p:nvSpPr>
        <p:spPr>
          <a:xfrm>
            <a:off x="5371581" y="1032098"/>
            <a:ext cx="4028303" cy="402799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6422165" y="1166157"/>
            <a:ext cx="2032174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CRTC  Streamer</a:t>
            </a:r>
          </a:p>
        </p:txBody>
      </p:sp>
      <p:sp>
        <p:nvSpPr>
          <p:cNvPr id="21" name="矩形 20"/>
          <p:cNvSpPr/>
          <p:nvPr/>
        </p:nvSpPr>
        <p:spPr>
          <a:xfrm>
            <a:off x="5680500" y="1871752"/>
            <a:ext cx="1741789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Video Engine</a:t>
            </a:r>
            <a:endParaRPr lang="zh-CN" altLang="en-US" dirty="0"/>
          </a:p>
        </p:txBody>
      </p:sp>
      <p:sp>
        <p:nvSpPr>
          <p:cNvPr id="22" name="矩形 21"/>
          <p:cNvSpPr/>
          <p:nvPr/>
        </p:nvSpPr>
        <p:spPr>
          <a:xfrm>
            <a:off x="5680500" y="2434211"/>
            <a:ext cx="1780919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 smtClean="0"/>
              <a:t>Config</a:t>
            </a:r>
            <a:endParaRPr lang="zh-CN" altLang="en-US" dirty="0"/>
          </a:p>
        </p:txBody>
      </p:sp>
      <p:sp>
        <p:nvSpPr>
          <p:cNvPr id="23" name="矩形 22"/>
          <p:cNvSpPr/>
          <p:nvPr/>
        </p:nvSpPr>
        <p:spPr>
          <a:xfrm>
            <a:off x="5680500" y="2996670"/>
            <a:ext cx="1780919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 smtClean="0"/>
              <a:t>ScreenCap</a:t>
            </a:r>
            <a:endParaRPr lang="zh-CN" altLang="en-US" dirty="0"/>
          </a:p>
        </p:txBody>
      </p:sp>
      <p:sp>
        <p:nvSpPr>
          <p:cNvPr id="24" name="矩形 23"/>
          <p:cNvSpPr/>
          <p:nvPr/>
        </p:nvSpPr>
        <p:spPr>
          <a:xfrm>
            <a:off x="5680499" y="3488224"/>
            <a:ext cx="1780919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Data</a:t>
            </a:r>
            <a:endParaRPr lang="zh-CN" altLang="en-US" dirty="0"/>
          </a:p>
        </p:txBody>
      </p:sp>
      <p:sp>
        <p:nvSpPr>
          <p:cNvPr id="25" name="矩形 24"/>
          <p:cNvSpPr/>
          <p:nvPr/>
        </p:nvSpPr>
        <p:spPr>
          <a:xfrm>
            <a:off x="7690536" y="1906029"/>
            <a:ext cx="1527605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Live</a:t>
            </a:r>
            <a:endParaRPr lang="zh-CN" altLang="en-US" dirty="0"/>
          </a:p>
        </p:txBody>
      </p:sp>
      <p:sp>
        <p:nvSpPr>
          <p:cNvPr id="26" name="矩形 25"/>
          <p:cNvSpPr/>
          <p:nvPr/>
        </p:nvSpPr>
        <p:spPr>
          <a:xfrm>
            <a:off x="7767247" y="2434211"/>
            <a:ext cx="1326808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Transport</a:t>
            </a:r>
            <a:endParaRPr lang="zh-CN" altLang="en-US" dirty="0"/>
          </a:p>
        </p:txBody>
      </p:sp>
      <p:sp>
        <p:nvSpPr>
          <p:cNvPr id="27" name="矩形 26"/>
          <p:cNvSpPr/>
          <p:nvPr/>
        </p:nvSpPr>
        <p:spPr>
          <a:xfrm>
            <a:off x="7767247" y="2996670"/>
            <a:ext cx="1245969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 smtClean="0"/>
              <a:t>AudioCap</a:t>
            </a:r>
            <a:endParaRPr lang="zh-CN" altLang="en-US" dirty="0"/>
          </a:p>
        </p:txBody>
      </p:sp>
      <p:sp>
        <p:nvSpPr>
          <p:cNvPr id="28" name="矩形 27"/>
          <p:cNvSpPr/>
          <p:nvPr/>
        </p:nvSpPr>
        <p:spPr>
          <a:xfrm>
            <a:off x="7815649" y="3475248"/>
            <a:ext cx="1278406" cy="3150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Virtual Dev</a:t>
            </a:r>
            <a:endParaRPr lang="zh-CN" altLang="en-US" dirty="0"/>
          </a:p>
        </p:txBody>
      </p:sp>
      <p:sp>
        <p:nvSpPr>
          <p:cNvPr id="29" name="矩形 28"/>
          <p:cNvSpPr/>
          <p:nvPr/>
        </p:nvSpPr>
        <p:spPr>
          <a:xfrm>
            <a:off x="10398211" y="1810265"/>
            <a:ext cx="914400" cy="494270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CDN</a:t>
            </a:r>
            <a:endParaRPr lang="zh-CN" altLang="en-US" dirty="0"/>
          </a:p>
        </p:txBody>
      </p:sp>
      <p:sp>
        <p:nvSpPr>
          <p:cNvPr id="30" name="矩形 29"/>
          <p:cNvSpPr/>
          <p:nvPr/>
        </p:nvSpPr>
        <p:spPr>
          <a:xfrm>
            <a:off x="10193679" y="3125550"/>
            <a:ext cx="1013254" cy="171211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Cloud Computer App</a:t>
            </a:r>
            <a:endParaRPr lang="zh-CN" altLang="en-US" dirty="0"/>
          </a:p>
        </p:txBody>
      </p:sp>
      <p:sp>
        <p:nvSpPr>
          <p:cNvPr id="31" name="左右箭头 30"/>
          <p:cNvSpPr/>
          <p:nvPr/>
        </p:nvSpPr>
        <p:spPr>
          <a:xfrm>
            <a:off x="4785666" y="2009769"/>
            <a:ext cx="942202" cy="390989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Video</a:t>
            </a:r>
            <a:endParaRPr lang="zh-CN" altLang="en-US" dirty="0"/>
          </a:p>
        </p:txBody>
      </p:sp>
      <p:sp>
        <p:nvSpPr>
          <p:cNvPr id="32" name="左右箭头 31"/>
          <p:cNvSpPr/>
          <p:nvPr/>
        </p:nvSpPr>
        <p:spPr>
          <a:xfrm>
            <a:off x="4812443" y="2828090"/>
            <a:ext cx="942202" cy="390989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Audio</a:t>
            </a:r>
            <a:endParaRPr lang="zh-CN" altLang="en-US" dirty="0"/>
          </a:p>
        </p:txBody>
      </p:sp>
      <p:sp>
        <p:nvSpPr>
          <p:cNvPr id="34" name="左右箭头 33"/>
          <p:cNvSpPr/>
          <p:nvPr/>
        </p:nvSpPr>
        <p:spPr>
          <a:xfrm>
            <a:off x="4753613" y="3420661"/>
            <a:ext cx="942202" cy="390989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Data</a:t>
            </a:r>
            <a:endParaRPr lang="zh-CN" altLang="en-US" dirty="0"/>
          </a:p>
        </p:txBody>
      </p:sp>
      <p:sp>
        <p:nvSpPr>
          <p:cNvPr id="35" name="右箭头 34"/>
          <p:cNvSpPr/>
          <p:nvPr/>
        </p:nvSpPr>
        <p:spPr>
          <a:xfrm>
            <a:off x="9259263" y="1889965"/>
            <a:ext cx="1075037" cy="331161"/>
          </a:xfrm>
          <a:prstGeom prst="right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RTMP</a:t>
            </a:r>
            <a:endParaRPr lang="zh-CN" altLang="en-US" dirty="0"/>
          </a:p>
        </p:txBody>
      </p:sp>
      <p:sp>
        <p:nvSpPr>
          <p:cNvPr id="36" name="左右箭头 35"/>
          <p:cNvSpPr/>
          <p:nvPr/>
        </p:nvSpPr>
        <p:spPr>
          <a:xfrm>
            <a:off x="9146568" y="3018396"/>
            <a:ext cx="1274810" cy="913704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Dev Data</a:t>
            </a:r>
            <a:endParaRPr lang="zh-CN" altLang="en-US" dirty="0"/>
          </a:p>
        </p:txBody>
      </p:sp>
      <p:sp>
        <p:nvSpPr>
          <p:cNvPr id="37" name="左右箭头 36"/>
          <p:cNvSpPr/>
          <p:nvPr/>
        </p:nvSpPr>
        <p:spPr>
          <a:xfrm>
            <a:off x="8930327" y="4083470"/>
            <a:ext cx="1470454" cy="825251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Media 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5004791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>
                <a:solidFill>
                  <a:srgbClr val="0070C0"/>
                </a:solidFill>
              </a:rPr>
              <a:t>用户体验的评测指标</a:t>
            </a:r>
            <a:endParaRPr lang="zh-CN" altLang="en-US" dirty="0">
              <a:solidFill>
                <a:srgbClr val="0070C0"/>
              </a:solidFill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1223319" y="2310714"/>
            <a:ext cx="2397211" cy="10935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用户联通率（按入系统的成功率）</a:t>
            </a:r>
            <a:endParaRPr lang="zh-CN" altLang="en-US" dirty="0"/>
          </a:p>
        </p:txBody>
      </p:sp>
      <p:sp>
        <p:nvSpPr>
          <p:cNvPr id="6" name="矩形 5"/>
          <p:cNvSpPr/>
          <p:nvPr/>
        </p:nvSpPr>
        <p:spPr>
          <a:xfrm>
            <a:off x="4897394" y="2310713"/>
            <a:ext cx="2397211" cy="10935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首帧时长（云电脑启动时长）</a:t>
            </a:r>
            <a:endParaRPr lang="zh-CN" altLang="en-US" dirty="0"/>
          </a:p>
        </p:txBody>
      </p:sp>
      <p:sp>
        <p:nvSpPr>
          <p:cNvPr id="8" name="矩形 7"/>
          <p:cNvSpPr/>
          <p:nvPr/>
        </p:nvSpPr>
        <p:spPr>
          <a:xfrm>
            <a:off x="8135893" y="2432221"/>
            <a:ext cx="2397211" cy="10935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响应时延（操控响应速度）</a:t>
            </a:r>
            <a:endParaRPr lang="zh-CN" altLang="en-US" dirty="0"/>
          </a:p>
        </p:txBody>
      </p:sp>
      <p:sp>
        <p:nvSpPr>
          <p:cNvPr id="10" name="矩形 9"/>
          <p:cNvSpPr/>
          <p:nvPr/>
        </p:nvSpPr>
        <p:spPr>
          <a:xfrm>
            <a:off x="1300550" y="4132389"/>
            <a:ext cx="2397211" cy="10935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清晰度（画质质量）</a:t>
            </a:r>
            <a:endParaRPr lang="zh-CN" altLang="en-US" dirty="0"/>
          </a:p>
        </p:txBody>
      </p:sp>
      <p:sp>
        <p:nvSpPr>
          <p:cNvPr id="11" name="矩形 10"/>
          <p:cNvSpPr/>
          <p:nvPr/>
        </p:nvSpPr>
        <p:spPr>
          <a:xfrm>
            <a:off x="4716162" y="4085968"/>
            <a:ext cx="2397211" cy="10935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卡顿率（流畅度）</a:t>
            </a:r>
            <a:endParaRPr lang="zh-CN" altLang="en-US" dirty="0"/>
          </a:p>
        </p:txBody>
      </p:sp>
      <p:sp>
        <p:nvSpPr>
          <p:cNvPr id="12" name="矩形 11"/>
          <p:cNvSpPr/>
          <p:nvPr/>
        </p:nvSpPr>
        <p:spPr>
          <a:xfrm>
            <a:off x="8131774" y="4132390"/>
            <a:ext cx="2397211" cy="10935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帧率（流畅度）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6333397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首帧时长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50339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altLang="zh-CN" dirty="0" smtClean="0"/>
              <a:t> </a:t>
            </a:r>
            <a:endParaRPr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1877028" y="2414916"/>
            <a:ext cx="1204784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dirty="0"/>
              <a:t>采集游戏画面</a:t>
            </a:r>
            <a:r>
              <a:rPr lang="zh-CN" altLang="en-US" dirty="0" smtClean="0"/>
              <a:t>时延</a:t>
            </a:r>
            <a:endParaRPr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3466069" y="2370192"/>
            <a:ext cx="1161535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视频编码时延</a:t>
            </a:r>
            <a:endParaRPr lang="zh-CN" altLang="en-US" dirty="0"/>
          </a:p>
        </p:txBody>
      </p:sp>
      <p:sp>
        <p:nvSpPr>
          <p:cNvPr id="6" name="矩形 5"/>
          <p:cNvSpPr/>
          <p:nvPr/>
        </p:nvSpPr>
        <p:spPr>
          <a:xfrm>
            <a:off x="5211907" y="2414916"/>
            <a:ext cx="1161535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RTC</a:t>
            </a:r>
            <a:r>
              <a:rPr lang="zh-CN" altLang="en-US" dirty="0" smtClean="0"/>
              <a:t>传输时延</a:t>
            </a:r>
            <a:endParaRPr lang="zh-CN" altLang="en-US" dirty="0"/>
          </a:p>
        </p:txBody>
      </p:sp>
      <p:sp>
        <p:nvSpPr>
          <p:cNvPr id="7" name="矩形 6"/>
          <p:cNvSpPr/>
          <p:nvPr/>
        </p:nvSpPr>
        <p:spPr>
          <a:xfrm>
            <a:off x="7030409" y="2414916"/>
            <a:ext cx="1161535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视频解码时延</a:t>
            </a:r>
            <a:endParaRPr lang="zh-CN" altLang="en-US" dirty="0"/>
          </a:p>
        </p:txBody>
      </p:sp>
      <p:sp>
        <p:nvSpPr>
          <p:cNvPr id="8" name="矩形 7"/>
          <p:cNvSpPr/>
          <p:nvPr/>
        </p:nvSpPr>
        <p:spPr>
          <a:xfrm>
            <a:off x="8695436" y="2414916"/>
            <a:ext cx="1161535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渲染时延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020039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首帧时长优化</a:t>
            </a:r>
            <a:endParaRPr lang="zh-CN" altLang="en-US" dirty="0"/>
          </a:p>
        </p:txBody>
      </p:sp>
      <p:sp>
        <p:nvSpPr>
          <p:cNvPr id="8" name="矩形 7"/>
          <p:cNvSpPr/>
          <p:nvPr/>
        </p:nvSpPr>
        <p:spPr>
          <a:xfrm>
            <a:off x="1262418" y="1767385"/>
            <a:ext cx="8987051" cy="15198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1650241" y="1971062"/>
            <a:ext cx="1119116" cy="9348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预处理</a:t>
            </a:r>
            <a:endParaRPr lang="zh-CN" altLang="en-US" dirty="0"/>
          </a:p>
        </p:txBody>
      </p:sp>
      <p:sp>
        <p:nvSpPr>
          <p:cNvPr id="10" name="矩形 9"/>
          <p:cNvSpPr/>
          <p:nvPr/>
        </p:nvSpPr>
        <p:spPr>
          <a:xfrm>
            <a:off x="1262418" y="5192112"/>
            <a:ext cx="8987051" cy="130743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/>
          <p:cNvSpPr/>
          <p:nvPr/>
        </p:nvSpPr>
        <p:spPr>
          <a:xfrm>
            <a:off x="1262418" y="3478562"/>
            <a:ext cx="8987051" cy="130743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/>
          <p:cNvSpPr/>
          <p:nvPr/>
        </p:nvSpPr>
        <p:spPr>
          <a:xfrm>
            <a:off x="1610434" y="3671923"/>
            <a:ext cx="1119117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并行启动</a:t>
            </a:r>
            <a:endParaRPr lang="zh-CN" altLang="en-US" dirty="0"/>
          </a:p>
        </p:txBody>
      </p:sp>
      <p:sp>
        <p:nvSpPr>
          <p:cNvPr id="13" name="矩形 12"/>
          <p:cNvSpPr/>
          <p:nvPr/>
        </p:nvSpPr>
        <p:spPr>
          <a:xfrm>
            <a:off x="1610434" y="5393816"/>
            <a:ext cx="1119117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接入优化</a:t>
            </a:r>
            <a:endParaRPr lang="zh-CN" altLang="en-US" dirty="0"/>
          </a:p>
        </p:txBody>
      </p:sp>
      <p:sp>
        <p:nvSpPr>
          <p:cNvPr id="3" name="矩形 2"/>
          <p:cNvSpPr/>
          <p:nvPr/>
        </p:nvSpPr>
        <p:spPr>
          <a:xfrm>
            <a:off x="3830472" y="1826442"/>
            <a:ext cx="5732060" cy="342234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实例和云电脑优化</a:t>
            </a:r>
            <a:endParaRPr lang="zh-CN" altLang="en-US" dirty="0"/>
          </a:p>
        </p:txBody>
      </p:sp>
      <p:sp>
        <p:nvSpPr>
          <p:cNvPr id="14" name="矩形 13"/>
          <p:cNvSpPr/>
          <p:nvPr/>
        </p:nvSpPr>
        <p:spPr>
          <a:xfrm>
            <a:off x="3830472" y="2225182"/>
            <a:ext cx="5732060" cy="342234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编码器预启动</a:t>
            </a:r>
            <a:endParaRPr lang="zh-CN" altLang="en-US" dirty="0"/>
          </a:p>
        </p:txBody>
      </p:sp>
      <p:sp>
        <p:nvSpPr>
          <p:cNvPr id="15" name="矩形 14"/>
          <p:cNvSpPr/>
          <p:nvPr/>
        </p:nvSpPr>
        <p:spPr>
          <a:xfrm>
            <a:off x="3830472" y="2587626"/>
            <a:ext cx="5732060" cy="342234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网络预连接</a:t>
            </a:r>
            <a:endParaRPr lang="zh-CN" altLang="en-US" dirty="0"/>
          </a:p>
        </p:txBody>
      </p:sp>
      <p:sp>
        <p:nvSpPr>
          <p:cNvPr id="16" name="矩形 15"/>
          <p:cNvSpPr/>
          <p:nvPr/>
        </p:nvSpPr>
        <p:spPr>
          <a:xfrm>
            <a:off x="3830472" y="2966375"/>
            <a:ext cx="5732060" cy="342234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云电脑启动时长减去</a:t>
            </a:r>
            <a:r>
              <a:rPr lang="en-US" altLang="zh-CN" dirty="0" smtClean="0"/>
              <a:t>80%</a:t>
            </a:r>
            <a:r>
              <a:rPr lang="zh-CN" altLang="en-US" dirty="0" smtClean="0"/>
              <a:t>、首帧启动时间缩短</a:t>
            </a:r>
            <a:r>
              <a:rPr lang="en-US" altLang="zh-CN" dirty="0" smtClean="0"/>
              <a:t>40%</a:t>
            </a:r>
            <a:endParaRPr lang="zh-CN" altLang="en-US" dirty="0"/>
          </a:p>
        </p:txBody>
      </p:sp>
      <p:sp>
        <p:nvSpPr>
          <p:cNvPr id="17" name="矩形 16"/>
          <p:cNvSpPr/>
          <p:nvPr/>
        </p:nvSpPr>
        <p:spPr>
          <a:xfrm>
            <a:off x="3830472" y="3614316"/>
            <a:ext cx="5732060" cy="34223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云电脑启动和</a:t>
            </a:r>
            <a:r>
              <a:rPr lang="en-US" altLang="zh-CN" dirty="0" smtClean="0"/>
              <a:t>CRTC</a:t>
            </a:r>
            <a:r>
              <a:rPr lang="zh-CN" altLang="en-US" dirty="0" smtClean="0"/>
              <a:t>接入并行</a:t>
            </a:r>
            <a:endParaRPr lang="zh-CN" altLang="en-US" dirty="0"/>
          </a:p>
        </p:txBody>
      </p:sp>
      <p:sp>
        <p:nvSpPr>
          <p:cNvPr id="18" name="矩形 17"/>
          <p:cNvSpPr/>
          <p:nvPr/>
        </p:nvSpPr>
        <p:spPr>
          <a:xfrm>
            <a:off x="3830472" y="4037323"/>
            <a:ext cx="5732060" cy="34223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硬件初始化与云电脑启动并行</a:t>
            </a:r>
            <a:endParaRPr lang="zh-CN" altLang="en-US" dirty="0"/>
          </a:p>
        </p:txBody>
      </p:sp>
      <p:sp>
        <p:nvSpPr>
          <p:cNvPr id="19" name="矩形 18"/>
          <p:cNvSpPr/>
          <p:nvPr/>
        </p:nvSpPr>
        <p:spPr>
          <a:xfrm>
            <a:off x="3830472" y="4433066"/>
            <a:ext cx="5732060" cy="34223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减少交互方式即过程、优化</a:t>
            </a:r>
            <a:r>
              <a:rPr lang="en-US" altLang="zh-CN" dirty="0" smtClean="0"/>
              <a:t>CRTC</a:t>
            </a:r>
            <a:r>
              <a:rPr lang="zh-CN" altLang="en-US" dirty="0" smtClean="0"/>
              <a:t>接入时间</a:t>
            </a:r>
            <a:endParaRPr lang="zh-CN" altLang="en-US" dirty="0"/>
          </a:p>
        </p:txBody>
      </p:sp>
      <p:sp>
        <p:nvSpPr>
          <p:cNvPr id="20" name="矩形 19"/>
          <p:cNvSpPr/>
          <p:nvPr/>
        </p:nvSpPr>
        <p:spPr>
          <a:xfrm>
            <a:off x="3830472" y="5333156"/>
            <a:ext cx="5732060" cy="34223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IDC</a:t>
            </a:r>
            <a:r>
              <a:rPr lang="zh-CN" altLang="en-US" dirty="0" smtClean="0"/>
              <a:t>机房广覆盖、降低用户网络连接时延</a:t>
            </a:r>
            <a:endParaRPr lang="zh-CN" altLang="en-US" dirty="0"/>
          </a:p>
        </p:txBody>
      </p:sp>
      <p:sp>
        <p:nvSpPr>
          <p:cNvPr id="21" name="矩形 20"/>
          <p:cNvSpPr/>
          <p:nvPr/>
        </p:nvSpPr>
        <p:spPr>
          <a:xfrm>
            <a:off x="3833884" y="5739275"/>
            <a:ext cx="5732060" cy="34223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将更多的服务转移到距离用户跟近的</a:t>
            </a:r>
            <a:r>
              <a:rPr lang="en-US" altLang="zh-CN" dirty="0" smtClean="0"/>
              <a:t>IDC</a:t>
            </a:r>
            <a:r>
              <a:rPr lang="zh-CN" altLang="en-US" dirty="0" smtClean="0"/>
              <a:t>机房</a:t>
            </a:r>
            <a:endParaRPr lang="zh-CN" altLang="en-US" dirty="0"/>
          </a:p>
        </p:txBody>
      </p:sp>
      <p:sp>
        <p:nvSpPr>
          <p:cNvPr id="22" name="矩形 21"/>
          <p:cNvSpPr/>
          <p:nvPr/>
        </p:nvSpPr>
        <p:spPr>
          <a:xfrm>
            <a:off x="3830472" y="6099187"/>
            <a:ext cx="5732060" cy="34223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减少客户端与云端交互次数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0683151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60000"/>
              <a:lumOff val="40000"/>
            </a:schemeClr>
          </a:solidFill>
        </p:spPr>
        <p:txBody>
          <a:bodyPr/>
          <a:lstStyle/>
          <a:p>
            <a:r>
              <a:rPr lang="zh-CN" altLang="en-US" dirty="0" smtClean="0">
                <a:solidFill>
                  <a:schemeClr val="accent5">
                    <a:lumMod val="75000"/>
                  </a:schemeClr>
                </a:solidFill>
              </a:rPr>
              <a:t>操作时延</a:t>
            </a:r>
            <a:endParaRPr lang="zh-CN" alt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6483" y="1788346"/>
            <a:ext cx="10515600" cy="4351338"/>
          </a:xfrm>
          <a:solidFill>
            <a:srgbClr val="0070C0"/>
          </a:solidFill>
        </p:spPr>
        <p:txBody>
          <a:bodyPr/>
          <a:lstStyle/>
          <a:p>
            <a:pPr marL="0" indent="0">
              <a:buNone/>
            </a:pPr>
            <a:r>
              <a:rPr lang="zh-CN" altLang="en-US" dirty="0" smtClean="0"/>
              <a:t> </a:t>
            </a:r>
            <a:endParaRPr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938535" y="2789648"/>
            <a:ext cx="307075" cy="18287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用户按下按键</a:t>
            </a:r>
            <a:endParaRPr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1624083" y="3309583"/>
            <a:ext cx="914400" cy="3070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按键采集</a:t>
            </a:r>
            <a:endParaRPr lang="zh-CN" altLang="en-US" sz="1200" dirty="0"/>
          </a:p>
        </p:txBody>
      </p:sp>
      <p:sp>
        <p:nvSpPr>
          <p:cNvPr id="7" name="文本框 6"/>
          <p:cNvSpPr txBox="1"/>
          <p:nvPr/>
        </p:nvSpPr>
        <p:spPr>
          <a:xfrm>
            <a:off x="1525682" y="2995893"/>
            <a:ext cx="111120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 smtClean="0"/>
              <a:t>时延平均</a:t>
            </a:r>
            <a:r>
              <a:rPr lang="en-US" altLang="zh-CN" sz="1000" dirty="0" smtClean="0"/>
              <a:t>0~16ms</a:t>
            </a:r>
            <a:endParaRPr lang="zh-CN" altLang="en-US" sz="1000" dirty="0"/>
          </a:p>
        </p:txBody>
      </p:sp>
      <p:sp>
        <p:nvSpPr>
          <p:cNvPr id="9" name="矩形 8"/>
          <p:cNvSpPr/>
          <p:nvPr/>
        </p:nvSpPr>
        <p:spPr>
          <a:xfrm>
            <a:off x="1640602" y="4192600"/>
            <a:ext cx="914400" cy="3070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视频显示</a:t>
            </a:r>
            <a:endParaRPr lang="zh-CN" altLang="en-US" sz="1200" dirty="0"/>
          </a:p>
        </p:txBody>
      </p:sp>
      <p:sp>
        <p:nvSpPr>
          <p:cNvPr id="10" name="矩形 9"/>
          <p:cNvSpPr/>
          <p:nvPr/>
        </p:nvSpPr>
        <p:spPr>
          <a:xfrm>
            <a:off x="2790118" y="4228808"/>
            <a:ext cx="914400" cy="3070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按键采集</a:t>
            </a:r>
            <a:endParaRPr lang="zh-CN" altLang="en-US" sz="1200" dirty="0"/>
          </a:p>
        </p:txBody>
      </p:sp>
      <p:sp>
        <p:nvSpPr>
          <p:cNvPr id="11" name="文本框 10"/>
          <p:cNvSpPr txBox="1"/>
          <p:nvPr/>
        </p:nvSpPr>
        <p:spPr>
          <a:xfrm>
            <a:off x="1533740" y="4618447"/>
            <a:ext cx="111120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 smtClean="0"/>
              <a:t>时延平均</a:t>
            </a:r>
            <a:r>
              <a:rPr lang="en-US" altLang="zh-CN" sz="1000" dirty="0" smtClean="0"/>
              <a:t>0~16ms</a:t>
            </a:r>
            <a:endParaRPr lang="zh-CN" altLang="en-US" sz="1000" dirty="0"/>
          </a:p>
        </p:txBody>
      </p:sp>
      <p:sp>
        <p:nvSpPr>
          <p:cNvPr id="12" name="文本框 11"/>
          <p:cNvSpPr txBox="1"/>
          <p:nvPr/>
        </p:nvSpPr>
        <p:spPr>
          <a:xfrm>
            <a:off x="2733164" y="4618447"/>
            <a:ext cx="111120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 smtClean="0"/>
              <a:t>时延平均</a:t>
            </a:r>
            <a:r>
              <a:rPr lang="en-US" altLang="zh-CN" sz="1000" dirty="0" smtClean="0"/>
              <a:t>4~16ms</a:t>
            </a:r>
            <a:endParaRPr lang="zh-CN" altLang="en-US" sz="1000" dirty="0"/>
          </a:p>
        </p:txBody>
      </p:sp>
      <p:sp>
        <p:nvSpPr>
          <p:cNvPr id="14" name="左大括号 13"/>
          <p:cNvSpPr/>
          <p:nvPr/>
        </p:nvSpPr>
        <p:spPr>
          <a:xfrm>
            <a:off x="1414585" y="3337938"/>
            <a:ext cx="188821" cy="1060408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" name="直接箭头连接符 15"/>
          <p:cNvCxnSpPr/>
          <p:nvPr/>
        </p:nvCxnSpPr>
        <p:spPr>
          <a:xfrm>
            <a:off x="1392063" y="3731364"/>
            <a:ext cx="0" cy="1422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矩形 16"/>
          <p:cNvSpPr/>
          <p:nvPr/>
        </p:nvSpPr>
        <p:spPr>
          <a:xfrm>
            <a:off x="938535" y="5361354"/>
            <a:ext cx="914400" cy="2813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/>
              <a:t>总响应时延</a:t>
            </a:r>
            <a:endParaRPr lang="zh-CN" altLang="en-US" sz="1100" dirty="0"/>
          </a:p>
        </p:txBody>
      </p:sp>
      <p:cxnSp>
        <p:nvCxnSpPr>
          <p:cNvPr id="19" name="直接箭头连接符 18"/>
          <p:cNvCxnSpPr/>
          <p:nvPr/>
        </p:nvCxnSpPr>
        <p:spPr>
          <a:xfrm flipV="1">
            <a:off x="2538483" y="3423138"/>
            <a:ext cx="1392655" cy="390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 22"/>
          <p:cNvSpPr/>
          <p:nvPr/>
        </p:nvSpPr>
        <p:spPr>
          <a:xfrm>
            <a:off x="8303090" y="3288081"/>
            <a:ext cx="1069327" cy="3482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/>
              <a:t>按键输入虚拟外设</a:t>
            </a:r>
            <a:endParaRPr lang="zh-CN" altLang="en-US" sz="1100" dirty="0"/>
          </a:p>
        </p:txBody>
      </p:sp>
      <p:sp>
        <p:nvSpPr>
          <p:cNvPr id="24" name="文本框 23"/>
          <p:cNvSpPr txBox="1"/>
          <p:nvPr/>
        </p:nvSpPr>
        <p:spPr>
          <a:xfrm>
            <a:off x="8414071" y="2985692"/>
            <a:ext cx="91563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 smtClean="0"/>
              <a:t>时延小于</a:t>
            </a:r>
            <a:r>
              <a:rPr lang="en-US" altLang="zh-CN" sz="1000" dirty="0" smtClean="0"/>
              <a:t>1ms</a:t>
            </a:r>
            <a:endParaRPr lang="zh-CN" altLang="en-US" sz="1000" dirty="0"/>
          </a:p>
        </p:txBody>
      </p:sp>
      <p:sp>
        <p:nvSpPr>
          <p:cNvPr id="26" name="矩形 25"/>
          <p:cNvSpPr/>
          <p:nvPr/>
        </p:nvSpPr>
        <p:spPr>
          <a:xfrm>
            <a:off x="9447549" y="3570669"/>
            <a:ext cx="791987" cy="3933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/>
              <a:t>云电脑响应按键</a:t>
            </a:r>
            <a:endParaRPr lang="zh-CN" altLang="en-US" sz="1100" dirty="0"/>
          </a:p>
        </p:txBody>
      </p:sp>
      <p:sp>
        <p:nvSpPr>
          <p:cNvPr id="27" name="矩形 26"/>
          <p:cNvSpPr/>
          <p:nvPr/>
        </p:nvSpPr>
        <p:spPr>
          <a:xfrm>
            <a:off x="10582031" y="3462215"/>
            <a:ext cx="649262" cy="11562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/>
              <a:t>云电脑响应延迟</a:t>
            </a:r>
            <a:r>
              <a:rPr lang="en-US" altLang="zh-CN" sz="1100" dirty="0" smtClean="0"/>
              <a:t>8~72ms</a:t>
            </a:r>
            <a:endParaRPr lang="zh-CN" altLang="en-US" sz="1100" dirty="0"/>
          </a:p>
        </p:txBody>
      </p:sp>
      <p:sp>
        <p:nvSpPr>
          <p:cNvPr id="29" name="矩形 28"/>
          <p:cNvSpPr/>
          <p:nvPr/>
        </p:nvSpPr>
        <p:spPr>
          <a:xfrm>
            <a:off x="7098313" y="4252338"/>
            <a:ext cx="791987" cy="3070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/>
              <a:t>视频编码</a:t>
            </a:r>
            <a:endParaRPr lang="zh-CN" altLang="en-US" sz="1100" dirty="0"/>
          </a:p>
        </p:txBody>
      </p:sp>
      <p:sp>
        <p:nvSpPr>
          <p:cNvPr id="30" name="矩形 29"/>
          <p:cNvSpPr/>
          <p:nvPr/>
        </p:nvSpPr>
        <p:spPr>
          <a:xfrm>
            <a:off x="8324681" y="4252338"/>
            <a:ext cx="791987" cy="3070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/>
              <a:t>画面采集</a:t>
            </a:r>
            <a:endParaRPr lang="zh-CN" altLang="en-US" sz="1100" dirty="0"/>
          </a:p>
        </p:txBody>
      </p:sp>
      <p:sp>
        <p:nvSpPr>
          <p:cNvPr id="31" name="矩形 30"/>
          <p:cNvSpPr/>
          <p:nvPr/>
        </p:nvSpPr>
        <p:spPr>
          <a:xfrm>
            <a:off x="9377329" y="4228808"/>
            <a:ext cx="867119" cy="3070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/>
              <a:t>云电脑渲染</a:t>
            </a:r>
            <a:endParaRPr lang="zh-CN" altLang="en-US" sz="1100" dirty="0"/>
          </a:p>
        </p:txBody>
      </p:sp>
      <p:cxnSp>
        <p:nvCxnSpPr>
          <p:cNvPr id="34" name="直接箭头连接符 33"/>
          <p:cNvCxnSpPr/>
          <p:nvPr/>
        </p:nvCxnSpPr>
        <p:spPr>
          <a:xfrm flipV="1">
            <a:off x="6882619" y="3440126"/>
            <a:ext cx="1324745" cy="122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/>
          <p:cNvCxnSpPr>
            <a:endCxn id="26" idx="1"/>
          </p:cNvCxnSpPr>
          <p:nvPr/>
        </p:nvCxnSpPr>
        <p:spPr>
          <a:xfrm>
            <a:off x="9269046" y="3570669"/>
            <a:ext cx="178503" cy="1966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箭头连接符 38"/>
          <p:cNvCxnSpPr/>
          <p:nvPr/>
        </p:nvCxnSpPr>
        <p:spPr>
          <a:xfrm>
            <a:off x="9810888" y="3964015"/>
            <a:ext cx="0" cy="2285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右大括号 39"/>
          <p:cNvSpPr/>
          <p:nvPr/>
        </p:nvSpPr>
        <p:spPr>
          <a:xfrm>
            <a:off x="10239536" y="3767342"/>
            <a:ext cx="225264" cy="675222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文本框 57"/>
          <p:cNvSpPr txBox="1"/>
          <p:nvPr/>
        </p:nvSpPr>
        <p:spPr>
          <a:xfrm>
            <a:off x="8377994" y="4686686"/>
            <a:ext cx="85472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 smtClean="0"/>
              <a:t>时延</a:t>
            </a:r>
            <a:r>
              <a:rPr lang="en-US" altLang="zh-CN" sz="1000" dirty="0" smtClean="0"/>
              <a:t>0~16ms</a:t>
            </a:r>
            <a:endParaRPr lang="zh-CN" altLang="en-US" sz="1000" dirty="0"/>
          </a:p>
        </p:txBody>
      </p:sp>
      <p:sp>
        <p:nvSpPr>
          <p:cNvPr id="59" name="文本框 58"/>
          <p:cNvSpPr txBox="1"/>
          <p:nvPr/>
        </p:nvSpPr>
        <p:spPr>
          <a:xfrm>
            <a:off x="7089547" y="4741557"/>
            <a:ext cx="78899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 smtClean="0"/>
              <a:t>时延</a:t>
            </a:r>
            <a:r>
              <a:rPr lang="en-US" altLang="zh-CN" sz="1000" dirty="0" smtClean="0"/>
              <a:t>4~8ms</a:t>
            </a:r>
            <a:endParaRPr lang="zh-CN" altLang="en-US" sz="1000" dirty="0"/>
          </a:p>
        </p:txBody>
      </p:sp>
      <p:sp>
        <p:nvSpPr>
          <p:cNvPr id="63" name="圆角矩形 62"/>
          <p:cNvSpPr/>
          <p:nvPr/>
        </p:nvSpPr>
        <p:spPr>
          <a:xfrm>
            <a:off x="3899603" y="2688441"/>
            <a:ext cx="3143010" cy="253462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/>
          <p:cNvSpPr txBox="1"/>
          <p:nvPr/>
        </p:nvSpPr>
        <p:spPr>
          <a:xfrm>
            <a:off x="4557557" y="2827204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约等于网络时延</a:t>
            </a:r>
            <a:endParaRPr lang="zh-CN" altLang="en-US" dirty="0"/>
          </a:p>
        </p:txBody>
      </p:sp>
      <p:sp>
        <p:nvSpPr>
          <p:cNvPr id="66" name="矩形 65"/>
          <p:cNvSpPr/>
          <p:nvPr/>
        </p:nvSpPr>
        <p:spPr>
          <a:xfrm>
            <a:off x="4267545" y="3305497"/>
            <a:ext cx="854267" cy="3070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按键发送</a:t>
            </a:r>
            <a:endParaRPr lang="zh-CN" altLang="en-US" sz="1200" dirty="0"/>
          </a:p>
        </p:txBody>
      </p:sp>
      <p:sp>
        <p:nvSpPr>
          <p:cNvPr id="67" name="矩形 66"/>
          <p:cNvSpPr/>
          <p:nvPr/>
        </p:nvSpPr>
        <p:spPr>
          <a:xfrm>
            <a:off x="5899205" y="3278638"/>
            <a:ext cx="786389" cy="3070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/>
              <a:t>按键接受</a:t>
            </a:r>
            <a:endParaRPr lang="zh-CN" altLang="en-US" sz="1100" dirty="0"/>
          </a:p>
        </p:txBody>
      </p:sp>
      <p:sp>
        <p:nvSpPr>
          <p:cNvPr id="68" name="矩形 67"/>
          <p:cNvSpPr/>
          <p:nvPr/>
        </p:nvSpPr>
        <p:spPr>
          <a:xfrm>
            <a:off x="4280127" y="4308986"/>
            <a:ext cx="854267" cy="3070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视频接受</a:t>
            </a:r>
            <a:endParaRPr lang="zh-CN" altLang="en-US" sz="1200" dirty="0"/>
          </a:p>
        </p:txBody>
      </p:sp>
      <p:sp>
        <p:nvSpPr>
          <p:cNvPr id="69" name="矩形 68"/>
          <p:cNvSpPr/>
          <p:nvPr/>
        </p:nvSpPr>
        <p:spPr>
          <a:xfrm>
            <a:off x="5962056" y="4252338"/>
            <a:ext cx="791987" cy="3070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/>
              <a:t>视频发送</a:t>
            </a:r>
            <a:endParaRPr lang="zh-CN" altLang="en-US" sz="1100" dirty="0"/>
          </a:p>
        </p:txBody>
      </p:sp>
      <p:cxnSp>
        <p:nvCxnSpPr>
          <p:cNvPr id="70" name="直接连接符 69"/>
          <p:cNvCxnSpPr/>
          <p:nvPr/>
        </p:nvCxnSpPr>
        <p:spPr>
          <a:xfrm>
            <a:off x="5525477" y="1891323"/>
            <a:ext cx="0" cy="3610708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左箭头 70"/>
          <p:cNvSpPr/>
          <p:nvPr/>
        </p:nvSpPr>
        <p:spPr>
          <a:xfrm>
            <a:off x="2522610" y="4324517"/>
            <a:ext cx="235116" cy="117329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左箭头 72"/>
          <p:cNvSpPr/>
          <p:nvPr/>
        </p:nvSpPr>
        <p:spPr>
          <a:xfrm>
            <a:off x="3808051" y="4358042"/>
            <a:ext cx="415038" cy="177840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" name="左箭头 73"/>
          <p:cNvSpPr/>
          <p:nvPr/>
        </p:nvSpPr>
        <p:spPr>
          <a:xfrm>
            <a:off x="5335784" y="4346137"/>
            <a:ext cx="415038" cy="177840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5" name="左箭头 74"/>
          <p:cNvSpPr/>
          <p:nvPr/>
        </p:nvSpPr>
        <p:spPr>
          <a:xfrm>
            <a:off x="6730628" y="4352926"/>
            <a:ext cx="415038" cy="177840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6" name="左箭头 75"/>
          <p:cNvSpPr/>
          <p:nvPr/>
        </p:nvSpPr>
        <p:spPr>
          <a:xfrm>
            <a:off x="7888525" y="4309426"/>
            <a:ext cx="415038" cy="177840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7" name="左箭头 76"/>
          <p:cNvSpPr/>
          <p:nvPr/>
        </p:nvSpPr>
        <p:spPr>
          <a:xfrm>
            <a:off x="9077941" y="4327592"/>
            <a:ext cx="415038" cy="177840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8" name="文本框 77"/>
          <p:cNvSpPr txBox="1"/>
          <p:nvPr/>
        </p:nvSpPr>
        <p:spPr>
          <a:xfrm>
            <a:off x="5318436" y="5320728"/>
            <a:ext cx="2307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约等于网络时延</a:t>
            </a:r>
            <a:r>
              <a:rPr lang="en-US" altLang="zh-CN" dirty="0" smtClean="0"/>
              <a:t>+4ms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010391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-1" y="0"/>
            <a:ext cx="12301415" cy="1813169"/>
          </a:xfrm>
          <a:solidFill>
            <a:srgbClr val="00B050"/>
          </a:solidFill>
        </p:spPr>
        <p:txBody>
          <a:bodyPr/>
          <a:lstStyle/>
          <a:p>
            <a:r>
              <a:rPr lang="zh-CN" altLang="en-US" dirty="0" smtClean="0"/>
              <a:t>影响时延的关键因素</a:t>
            </a:r>
            <a:endParaRPr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2258645" y="2563447"/>
            <a:ext cx="1273907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云电脑渲染时延</a:t>
            </a:r>
            <a:endParaRPr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5029199" y="2571262"/>
            <a:ext cx="1273907" cy="83233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视频编解码时延</a:t>
            </a:r>
            <a:endParaRPr lang="zh-CN" altLang="en-US" dirty="0"/>
          </a:p>
        </p:txBody>
      </p:sp>
      <p:sp>
        <p:nvSpPr>
          <p:cNvPr id="6" name="矩形 5"/>
          <p:cNvSpPr/>
          <p:nvPr/>
        </p:nvSpPr>
        <p:spPr>
          <a:xfrm>
            <a:off x="7487137" y="2563447"/>
            <a:ext cx="1273907" cy="83233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网络时延和掉包</a:t>
            </a:r>
            <a:endParaRPr lang="zh-CN" altLang="en-US" dirty="0"/>
          </a:p>
        </p:txBody>
      </p:sp>
      <p:sp>
        <p:nvSpPr>
          <p:cNvPr id="7" name="矩形 6"/>
          <p:cNvSpPr/>
          <p:nvPr/>
        </p:nvSpPr>
        <p:spPr>
          <a:xfrm>
            <a:off x="3755292" y="4280268"/>
            <a:ext cx="1273907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渲染</a:t>
            </a:r>
            <a:r>
              <a:rPr lang="en-US" altLang="zh-CN" dirty="0" smtClean="0"/>
              <a:t>/</a:t>
            </a:r>
            <a:r>
              <a:rPr lang="zh-CN" altLang="en-US" dirty="0" smtClean="0"/>
              <a:t>显示帧率</a:t>
            </a:r>
            <a:endParaRPr lang="zh-CN" altLang="en-US" dirty="0"/>
          </a:p>
        </p:txBody>
      </p:sp>
      <p:sp>
        <p:nvSpPr>
          <p:cNvPr id="8" name="矩形 7"/>
          <p:cNvSpPr/>
          <p:nvPr/>
        </p:nvSpPr>
        <p:spPr>
          <a:xfrm>
            <a:off x="6596185" y="4268545"/>
            <a:ext cx="1273907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按键采集帧率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75236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响应时延优化方法</a:t>
            </a:r>
            <a:r>
              <a:rPr lang="en-US" altLang="zh-CN" dirty="0" smtClean="0"/>
              <a:t>-</a:t>
            </a:r>
            <a:r>
              <a:rPr lang="zh-CN" altLang="en-US" dirty="0" smtClean="0"/>
              <a:t>网络传输时延优化</a:t>
            </a:r>
            <a:endParaRPr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250092" y="3618523"/>
            <a:ext cx="1844431" cy="7190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网络传输优化</a:t>
            </a:r>
            <a:endParaRPr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2543906" y="2239963"/>
            <a:ext cx="1285631" cy="7190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网络</a:t>
            </a:r>
            <a:endParaRPr lang="zh-CN" altLang="en-US" dirty="0"/>
          </a:p>
        </p:txBody>
      </p:sp>
      <p:sp>
        <p:nvSpPr>
          <p:cNvPr id="6" name="矩形 5"/>
          <p:cNvSpPr/>
          <p:nvPr/>
        </p:nvSpPr>
        <p:spPr>
          <a:xfrm>
            <a:off x="2543907" y="4626708"/>
            <a:ext cx="1285631" cy="7190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数据传输优化</a:t>
            </a:r>
            <a:endParaRPr lang="zh-CN" altLang="en-US" dirty="0"/>
          </a:p>
        </p:txBody>
      </p:sp>
      <p:sp>
        <p:nvSpPr>
          <p:cNvPr id="7" name="矩形 6"/>
          <p:cNvSpPr/>
          <p:nvPr/>
        </p:nvSpPr>
        <p:spPr>
          <a:xfrm>
            <a:off x="4936391" y="1791616"/>
            <a:ext cx="1285631" cy="7190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优化</a:t>
            </a:r>
            <a:r>
              <a:rPr lang="en-US" altLang="zh-CN" dirty="0" smtClean="0"/>
              <a:t>IDC</a:t>
            </a:r>
            <a:r>
              <a:rPr lang="zh-CN" altLang="en-US" dirty="0" smtClean="0"/>
              <a:t>机房部署</a:t>
            </a:r>
            <a:endParaRPr lang="zh-CN" altLang="en-US" dirty="0"/>
          </a:p>
        </p:txBody>
      </p:sp>
      <p:sp>
        <p:nvSpPr>
          <p:cNvPr id="8" name="矩形 7"/>
          <p:cNvSpPr/>
          <p:nvPr/>
        </p:nvSpPr>
        <p:spPr>
          <a:xfrm>
            <a:off x="4810369" y="3047574"/>
            <a:ext cx="1285631" cy="7190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优化路由策略</a:t>
            </a:r>
            <a:endParaRPr lang="zh-CN" altLang="en-US" dirty="0"/>
          </a:p>
        </p:txBody>
      </p:sp>
      <p:sp>
        <p:nvSpPr>
          <p:cNvPr id="9" name="矩形 8"/>
          <p:cNvSpPr/>
          <p:nvPr/>
        </p:nvSpPr>
        <p:spPr>
          <a:xfrm>
            <a:off x="6830644" y="2257302"/>
            <a:ext cx="1191847" cy="39730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/>
              <a:t>优先选择</a:t>
            </a:r>
            <a:r>
              <a:rPr lang="en-US" altLang="zh-CN" sz="1000" dirty="0" smtClean="0"/>
              <a:t>RTT</a:t>
            </a:r>
            <a:r>
              <a:rPr lang="zh-CN" altLang="en-US" sz="1000" dirty="0" smtClean="0"/>
              <a:t>时延小的机房</a:t>
            </a:r>
            <a:endParaRPr lang="zh-CN" altLang="en-US" sz="1000" dirty="0"/>
          </a:p>
        </p:txBody>
      </p:sp>
      <p:sp>
        <p:nvSpPr>
          <p:cNvPr id="10" name="矩形 9"/>
          <p:cNvSpPr/>
          <p:nvPr/>
        </p:nvSpPr>
        <p:spPr>
          <a:xfrm>
            <a:off x="6951783" y="1655519"/>
            <a:ext cx="949571" cy="34521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/>
              <a:t>用户距离</a:t>
            </a:r>
            <a:r>
              <a:rPr lang="en-US" altLang="zh-CN" sz="1000" dirty="0" smtClean="0"/>
              <a:t>IDC</a:t>
            </a:r>
            <a:r>
              <a:rPr lang="zh-CN" altLang="en-US" sz="1000" dirty="0" smtClean="0"/>
              <a:t>不超过</a:t>
            </a:r>
            <a:r>
              <a:rPr lang="en-US" altLang="zh-CN" sz="1000" dirty="0" smtClean="0"/>
              <a:t>400KM</a:t>
            </a:r>
            <a:endParaRPr lang="zh-CN" altLang="en-US" sz="1000" dirty="0"/>
          </a:p>
        </p:txBody>
      </p:sp>
      <p:sp>
        <p:nvSpPr>
          <p:cNvPr id="11" name="矩形 10"/>
          <p:cNvSpPr/>
          <p:nvPr/>
        </p:nvSpPr>
        <p:spPr>
          <a:xfrm>
            <a:off x="8979875" y="1729765"/>
            <a:ext cx="1285631" cy="527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 smtClean="0"/>
              <a:t>RTT</a:t>
            </a:r>
            <a:r>
              <a:rPr lang="zh-CN" altLang="en-US" sz="1000" dirty="0" smtClean="0"/>
              <a:t>延时控制在</a:t>
            </a:r>
            <a:r>
              <a:rPr lang="en-US" altLang="zh-CN" sz="1000" dirty="0" smtClean="0"/>
              <a:t>40ms</a:t>
            </a:r>
            <a:endParaRPr lang="zh-CN" altLang="en-US" sz="1000" dirty="0"/>
          </a:p>
        </p:txBody>
      </p:sp>
      <p:sp>
        <p:nvSpPr>
          <p:cNvPr id="12" name="矩形 11"/>
          <p:cNvSpPr/>
          <p:nvPr/>
        </p:nvSpPr>
        <p:spPr>
          <a:xfrm>
            <a:off x="6783751" y="3154790"/>
            <a:ext cx="1555264" cy="7190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优先选择</a:t>
            </a:r>
            <a:r>
              <a:rPr lang="en-US" altLang="zh-CN" dirty="0" smtClean="0"/>
              <a:t>RTT</a:t>
            </a:r>
            <a:r>
              <a:rPr lang="zh-CN" altLang="en-US" dirty="0" smtClean="0"/>
              <a:t>时延小机房</a:t>
            </a:r>
            <a:endParaRPr lang="zh-CN" altLang="en-US" dirty="0"/>
          </a:p>
        </p:txBody>
      </p:sp>
      <p:sp>
        <p:nvSpPr>
          <p:cNvPr id="13" name="矩形 12"/>
          <p:cNvSpPr/>
          <p:nvPr/>
        </p:nvSpPr>
        <p:spPr>
          <a:xfrm>
            <a:off x="4810368" y="4313851"/>
            <a:ext cx="1285631" cy="7190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增加吞吐量</a:t>
            </a:r>
            <a:endParaRPr lang="zh-CN" altLang="en-US" dirty="0"/>
          </a:p>
        </p:txBody>
      </p:sp>
      <p:sp>
        <p:nvSpPr>
          <p:cNvPr id="14" name="矩形 13"/>
          <p:cNvSpPr/>
          <p:nvPr/>
        </p:nvSpPr>
        <p:spPr>
          <a:xfrm>
            <a:off x="4810368" y="5345723"/>
            <a:ext cx="1285631" cy="7190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减少重传</a:t>
            </a:r>
            <a:endParaRPr lang="zh-CN" altLang="en-US" dirty="0"/>
          </a:p>
        </p:txBody>
      </p:sp>
      <p:sp>
        <p:nvSpPr>
          <p:cNvPr id="15" name="矩形 14"/>
          <p:cNvSpPr/>
          <p:nvPr/>
        </p:nvSpPr>
        <p:spPr>
          <a:xfrm>
            <a:off x="7053384" y="4267201"/>
            <a:ext cx="1285631" cy="4767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/>
              <a:t>优化拥塞控制</a:t>
            </a:r>
            <a:endParaRPr lang="zh-CN" altLang="en-US" sz="1000" dirty="0"/>
          </a:p>
        </p:txBody>
      </p:sp>
      <p:sp>
        <p:nvSpPr>
          <p:cNvPr id="16" name="矩形 15"/>
          <p:cNvSpPr/>
          <p:nvPr/>
        </p:nvSpPr>
        <p:spPr>
          <a:xfrm>
            <a:off x="7053384" y="4861169"/>
            <a:ext cx="1285631" cy="4767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/>
              <a:t>基于</a:t>
            </a:r>
            <a:r>
              <a:rPr lang="en-US" altLang="zh-CN" sz="1000" dirty="0" smtClean="0"/>
              <a:t>UDP</a:t>
            </a:r>
            <a:r>
              <a:rPr lang="zh-CN" altLang="en-US" sz="1000" dirty="0" smtClean="0"/>
              <a:t>的传输协议</a:t>
            </a:r>
            <a:endParaRPr lang="zh-CN" altLang="en-US" sz="1000" dirty="0"/>
          </a:p>
        </p:txBody>
      </p:sp>
      <p:sp>
        <p:nvSpPr>
          <p:cNvPr id="17" name="矩形 16"/>
          <p:cNvSpPr/>
          <p:nvPr/>
        </p:nvSpPr>
        <p:spPr>
          <a:xfrm>
            <a:off x="7053383" y="5826369"/>
            <a:ext cx="1285631" cy="4767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 smtClean="0"/>
              <a:t>ARQ+FEC</a:t>
            </a:r>
            <a:r>
              <a:rPr lang="zh-CN" altLang="en-US" sz="1000" dirty="0" smtClean="0"/>
              <a:t>的</a:t>
            </a:r>
            <a:r>
              <a:rPr lang="en-US" altLang="zh-CN" sz="1000" dirty="0" err="1" smtClean="0"/>
              <a:t>Qos</a:t>
            </a:r>
            <a:r>
              <a:rPr lang="zh-CN" altLang="en-US" sz="1000" dirty="0" smtClean="0"/>
              <a:t>的保护</a:t>
            </a:r>
            <a:endParaRPr lang="zh-CN" altLang="en-US" sz="1000" dirty="0"/>
          </a:p>
        </p:txBody>
      </p:sp>
      <p:sp>
        <p:nvSpPr>
          <p:cNvPr id="18" name="左大括号 17"/>
          <p:cNvSpPr/>
          <p:nvPr/>
        </p:nvSpPr>
        <p:spPr>
          <a:xfrm>
            <a:off x="2157047" y="2719754"/>
            <a:ext cx="250092" cy="2438400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左大括号 18"/>
          <p:cNvSpPr/>
          <p:nvPr/>
        </p:nvSpPr>
        <p:spPr>
          <a:xfrm>
            <a:off x="5968024" y="4421067"/>
            <a:ext cx="874149" cy="702408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左大括号 19"/>
          <p:cNvSpPr/>
          <p:nvPr/>
        </p:nvSpPr>
        <p:spPr>
          <a:xfrm>
            <a:off x="5956495" y="1860610"/>
            <a:ext cx="874149" cy="569976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左大括号 20"/>
          <p:cNvSpPr/>
          <p:nvPr/>
        </p:nvSpPr>
        <p:spPr>
          <a:xfrm>
            <a:off x="3882878" y="4505570"/>
            <a:ext cx="874149" cy="1281723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左大括号 21"/>
          <p:cNvSpPr/>
          <p:nvPr/>
        </p:nvSpPr>
        <p:spPr>
          <a:xfrm>
            <a:off x="4005385" y="2293815"/>
            <a:ext cx="874149" cy="1281723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4" name="直接箭头连接符 23"/>
          <p:cNvCxnSpPr>
            <a:endCxn id="12" idx="1"/>
          </p:cNvCxnSpPr>
          <p:nvPr/>
        </p:nvCxnSpPr>
        <p:spPr>
          <a:xfrm>
            <a:off x="6125895" y="3460873"/>
            <a:ext cx="657856" cy="5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箭头连接符 25"/>
          <p:cNvCxnSpPr>
            <a:stCxn id="10" idx="3"/>
          </p:cNvCxnSpPr>
          <p:nvPr/>
        </p:nvCxnSpPr>
        <p:spPr>
          <a:xfrm>
            <a:off x="7901354" y="1828129"/>
            <a:ext cx="1016000" cy="1654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箭头连接符 27"/>
          <p:cNvCxnSpPr>
            <a:endCxn id="17" idx="1"/>
          </p:cNvCxnSpPr>
          <p:nvPr/>
        </p:nvCxnSpPr>
        <p:spPr>
          <a:xfrm>
            <a:off x="6125895" y="5705230"/>
            <a:ext cx="927488" cy="3595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69733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响应时延优化方法 </a:t>
            </a:r>
            <a:r>
              <a:rPr lang="en-US" altLang="zh-CN" dirty="0" smtClean="0"/>
              <a:t>-  </a:t>
            </a:r>
            <a:r>
              <a:rPr lang="zh-CN" altLang="en-US" dirty="0" smtClean="0"/>
              <a:t>视频编解码优化</a:t>
            </a:r>
            <a:endParaRPr lang="zh-CN" altLang="en-US" dirty="0"/>
          </a:p>
        </p:txBody>
      </p:sp>
      <p:sp>
        <p:nvSpPr>
          <p:cNvPr id="7" name="矩形 6"/>
          <p:cNvSpPr/>
          <p:nvPr/>
        </p:nvSpPr>
        <p:spPr>
          <a:xfrm>
            <a:off x="4807527" y="1531039"/>
            <a:ext cx="1974274" cy="6026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编解码</a:t>
            </a:r>
            <a:endParaRPr lang="zh-CN" altLang="en-US" dirty="0"/>
          </a:p>
        </p:txBody>
      </p:sp>
      <p:sp>
        <p:nvSpPr>
          <p:cNvPr id="8" name="矩形 7"/>
          <p:cNvSpPr/>
          <p:nvPr/>
        </p:nvSpPr>
        <p:spPr>
          <a:xfrm>
            <a:off x="207818" y="2722419"/>
            <a:ext cx="1717964" cy="60267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编码标准选择</a:t>
            </a:r>
            <a:endParaRPr lang="zh-CN" altLang="en-US" dirty="0"/>
          </a:p>
        </p:txBody>
      </p:sp>
      <p:sp>
        <p:nvSpPr>
          <p:cNvPr id="9" name="矩形 8"/>
          <p:cNvSpPr/>
          <p:nvPr/>
        </p:nvSpPr>
        <p:spPr>
          <a:xfrm>
            <a:off x="2050474" y="2722419"/>
            <a:ext cx="1433944" cy="60267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全</a:t>
            </a:r>
            <a:r>
              <a:rPr lang="en-US" altLang="zh-CN" dirty="0" smtClean="0"/>
              <a:t>P</a:t>
            </a:r>
            <a:r>
              <a:rPr lang="zh-CN" altLang="en-US" dirty="0" smtClean="0"/>
              <a:t>帧</a:t>
            </a:r>
            <a:endParaRPr lang="zh-CN" altLang="en-US" dirty="0"/>
          </a:p>
        </p:txBody>
      </p:sp>
      <p:sp>
        <p:nvSpPr>
          <p:cNvPr id="10" name="矩形 9"/>
          <p:cNvSpPr/>
          <p:nvPr/>
        </p:nvSpPr>
        <p:spPr>
          <a:xfrm>
            <a:off x="3733800" y="2722419"/>
            <a:ext cx="1974274" cy="60267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Tile-base</a:t>
            </a:r>
            <a:r>
              <a:rPr lang="zh-CN" altLang="en-US" dirty="0" smtClean="0"/>
              <a:t>编码</a:t>
            </a:r>
            <a:endParaRPr lang="zh-CN" altLang="en-US" dirty="0"/>
          </a:p>
        </p:txBody>
      </p:sp>
      <p:sp>
        <p:nvSpPr>
          <p:cNvPr id="11" name="矩形 10"/>
          <p:cNvSpPr/>
          <p:nvPr/>
        </p:nvSpPr>
        <p:spPr>
          <a:xfrm>
            <a:off x="5957456" y="2722419"/>
            <a:ext cx="1974274" cy="60267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硬件编码</a:t>
            </a:r>
            <a:endParaRPr lang="zh-CN" altLang="en-US" dirty="0"/>
          </a:p>
        </p:txBody>
      </p:sp>
      <p:sp>
        <p:nvSpPr>
          <p:cNvPr id="12" name="矩形 11"/>
          <p:cNvSpPr/>
          <p:nvPr/>
        </p:nvSpPr>
        <p:spPr>
          <a:xfrm>
            <a:off x="8181112" y="2701638"/>
            <a:ext cx="1655615" cy="60267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解码器选择</a:t>
            </a:r>
            <a:endParaRPr lang="zh-CN" altLang="en-US" dirty="0"/>
          </a:p>
        </p:txBody>
      </p:sp>
      <p:sp>
        <p:nvSpPr>
          <p:cNvPr id="13" name="矩形 12"/>
          <p:cNvSpPr/>
          <p:nvPr/>
        </p:nvSpPr>
        <p:spPr>
          <a:xfrm>
            <a:off x="10086109" y="2701638"/>
            <a:ext cx="1974274" cy="60267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高</a:t>
            </a:r>
            <a:r>
              <a:rPr lang="zh-CN" altLang="en-US" dirty="0" smtClean="0"/>
              <a:t>阶编码方式</a:t>
            </a:r>
            <a:endParaRPr lang="zh-CN" altLang="en-US" dirty="0"/>
          </a:p>
        </p:txBody>
      </p:sp>
      <p:sp>
        <p:nvSpPr>
          <p:cNvPr id="14" name="矩形 13"/>
          <p:cNvSpPr/>
          <p:nvPr/>
        </p:nvSpPr>
        <p:spPr>
          <a:xfrm>
            <a:off x="10366663" y="3716267"/>
            <a:ext cx="1413165" cy="4714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基于</a:t>
            </a:r>
            <a:r>
              <a:rPr lang="en-US" altLang="zh-CN" sz="1200" dirty="0" smtClean="0"/>
              <a:t>ROI</a:t>
            </a:r>
            <a:r>
              <a:rPr lang="zh-CN" altLang="en-US" sz="1200" dirty="0" smtClean="0"/>
              <a:t>的编码</a:t>
            </a:r>
            <a:endParaRPr lang="zh-CN" altLang="en-US" sz="1200" dirty="0"/>
          </a:p>
        </p:txBody>
      </p:sp>
      <p:sp>
        <p:nvSpPr>
          <p:cNvPr id="15" name="矩形 14"/>
          <p:cNvSpPr/>
          <p:nvPr/>
        </p:nvSpPr>
        <p:spPr>
          <a:xfrm>
            <a:off x="10366663" y="4398819"/>
            <a:ext cx="1413165" cy="3948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基于渲染的编码</a:t>
            </a:r>
            <a:endParaRPr lang="zh-CN" altLang="en-US" sz="1200" dirty="0"/>
          </a:p>
        </p:txBody>
      </p:sp>
      <p:sp>
        <p:nvSpPr>
          <p:cNvPr id="16" name="矩形 15"/>
          <p:cNvSpPr/>
          <p:nvPr/>
        </p:nvSpPr>
        <p:spPr>
          <a:xfrm>
            <a:off x="10366663" y="4946074"/>
            <a:ext cx="1413165" cy="3948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前处理</a:t>
            </a:r>
            <a:endParaRPr lang="zh-CN" altLang="en-US" sz="1200" dirty="0"/>
          </a:p>
        </p:txBody>
      </p:sp>
      <p:sp>
        <p:nvSpPr>
          <p:cNvPr id="17" name="矩形 16"/>
          <p:cNvSpPr/>
          <p:nvPr/>
        </p:nvSpPr>
        <p:spPr>
          <a:xfrm>
            <a:off x="8302336" y="3705661"/>
            <a:ext cx="1413165" cy="4714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时延相同硬解码器优先</a:t>
            </a:r>
            <a:endParaRPr lang="zh-CN" altLang="en-US" sz="1200" dirty="0"/>
          </a:p>
        </p:txBody>
      </p:sp>
      <p:sp>
        <p:nvSpPr>
          <p:cNvPr id="18" name="矩形 17"/>
          <p:cNvSpPr/>
          <p:nvPr/>
        </p:nvSpPr>
        <p:spPr>
          <a:xfrm>
            <a:off x="8302335" y="4471125"/>
            <a:ext cx="1413165" cy="4714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硬解延时打，选软解</a:t>
            </a:r>
            <a:endParaRPr lang="zh-CN" altLang="en-US" sz="1200" dirty="0"/>
          </a:p>
        </p:txBody>
      </p:sp>
      <p:sp>
        <p:nvSpPr>
          <p:cNvPr id="19" name="矩形 18"/>
          <p:cNvSpPr/>
          <p:nvPr/>
        </p:nvSpPr>
        <p:spPr>
          <a:xfrm>
            <a:off x="8302334" y="5143501"/>
            <a:ext cx="1413165" cy="4714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解码器自适应</a:t>
            </a:r>
            <a:endParaRPr lang="zh-CN" altLang="en-US" sz="1200" dirty="0"/>
          </a:p>
        </p:txBody>
      </p:sp>
      <p:sp>
        <p:nvSpPr>
          <p:cNvPr id="20" name="矩形 19"/>
          <p:cNvSpPr/>
          <p:nvPr/>
        </p:nvSpPr>
        <p:spPr>
          <a:xfrm>
            <a:off x="6182590" y="3716267"/>
            <a:ext cx="1413165" cy="4714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时延更低</a:t>
            </a:r>
            <a:endParaRPr lang="zh-CN" altLang="en-US" sz="1200" dirty="0"/>
          </a:p>
        </p:txBody>
      </p:sp>
      <p:sp>
        <p:nvSpPr>
          <p:cNvPr id="21" name="矩形 20"/>
          <p:cNvSpPr/>
          <p:nvPr/>
        </p:nvSpPr>
        <p:spPr>
          <a:xfrm>
            <a:off x="6192978" y="4540829"/>
            <a:ext cx="1413165" cy="4714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smtClean="0"/>
              <a:t>CPU</a:t>
            </a:r>
            <a:r>
              <a:rPr lang="zh-CN" altLang="en-US" sz="1200" dirty="0" smtClean="0"/>
              <a:t>消耗更低</a:t>
            </a:r>
            <a:endParaRPr lang="zh-CN" altLang="en-US" sz="1200" dirty="0"/>
          </a:p>
        </p:txBody>
      </p:sp>
      <p:sp>
        <p:nvSpPr>
          <p:cNvPr id="22" name="矩形 21"/>
          <p:cNvSpPr/>
          <p:nvPr/>
        </p:nvSpPr>
        <p:spPr>
          <a:xfrm>
            <a:off x="4014354" y="3699164"/>
            <a:ext cx="1413165" cy="4714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编码并行处理减少时延</a:t>
            </a:r>
            <a:endParaRPr lang="zh-CN" altLang="en-US" sz="1200" dirty="0"/>
          </a:p>
        </p:txBody>
      </p:sp>
      <p:sp>
        <p:nvSpPr>
          <p:cNvPr id="23" name="矩形 22"/>
          <p:cNvSpPr/>
          <p:nvPr/>
        </p:nvSpPr>
        <p:spPr>
          <a:xfrm>
            <a:off x="2071253" y="3761079"/>
            <a:ext cx="1413165" cy="4714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降低整体数据量</a:t>
            </a:r>
            <a:endParaRPr lang="zh-CN" altLang="en-US" sz="1200" dirty="0"/>
          </a:p>
        </p:txBody>
      </p:sp>
      <p:sp>
        <p:nvSpPr>
          <p:cNvPr id="24" name="矩形 23"/>
          <p:cNvSpPr/>
          <p:nvPr/>
        </p:nvSpPr>
        <p:spPr>
          <a:xfrm>
            <a:off x="2071253" y="4432809"/>
            <a:ext cx="1413165" cy="4714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稳定码率输出</a:t>
            </a:r>
            <a:endParaRPr lang="zh-CN" altLang="en-US" sz="1200" dirty="0"/>
          </a:p>
        </p:txBody>
      </p:sp>
      <p:sp>
        <p:nvSpPr>
          <p:cNvPr id="25" name="矩形 24"/>
          <p:cNvSpPr/>
          <p:nvPr/>
        </p:nvSpPr>
        <p:spPr>
          <a:xfrm>
            <a:off x="304797" y="3716266"/>
            <a:ext cx="1413165" cy="4714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smtClean="0"/>
              <a:t>H264</a:t>
            </a:r>
            <a:r>
              <a:rPr lang="zh-CN" altLang="en-US" sz="1200" dirty="0" smtClean="0"/>
              <a:t>、</a:t>
            </a:r>
            <a:r>
              <a:rPr lang="en-US" altLang="zh-CN" sz="1200" dirty="0" smtClean="0"/>
              <a:t>H265</a:t>
            </a:r>
            <a:r>
              <a:rPr lang="zh-CN" altLang="en-US" sz="1200" dirty="0" smtClean="0"/>
              <a:t>、</a:t>
            </a:r>
            <a:r>
              <a:rPr lang="en-US" altLang="zh-CN" sz="1200" dirty="0" smtClean="0"/>
              <a:t>VP8</a:t>
            </a:r>
            <a:endParaRPr lang="zh-CN" altLang="en-US" sz="1200" dirty="0"/>
          </a:p>
        </p:txBody>
      </p:sp>
      <p:sp>
        <p:nvSpPr>
          <p:cNvPr id="26" name="矩形 25"/>
          <p:cNvSpPr/>
          <p:nvPr/>
        </p:nvSpPr>
        <p:spPr>
          <a:xfrm>
            <a:off x="297868" y="4491476"/>
            <a:ext cx="1413165" cy="4714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减少码率，减少发送时延</a:t>
            </a:r>
            <a:endParaRPr lang="zh-CN" altLang="en-US" sz="1200" dirty="0"/>
          </a:p>
        </p:txBody>
      </p:sp>
      <p:cxnSp>
        <p:nvCxnSpPr>
          <p:cNvPr id="28" name="直接箭头连接符 27"/>
          <p:cNvCxnSpPr/>
          <p:nvPr/>
        </p:nvCxnSpPr>
        <p:spPr>
          <a:xfrm>
            <a:off x="838200" y="3394364"/>
            <a:ext cx="0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箭头连接符 28"/>
          <p:cNvCxnSpPr/>
          <p:nvPr/>
        </p:nvCxnSpPr>
        <p:spPr>
          <a:xfrm>
            <a:off x="928255" y="4177146"/>
            <a:ext cx="0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箭头连接符 29"/>
          <p:cNvCxnSpPr/>
          <p:nvPr/>
        </p:nvCxnSpPr>
        <p:spPr>
          <a:xfrm>
            <a:off x="2680855" y="3411466"/>
            <a:ext cx="0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箭头连接符 30"/>
          <p:cNvCxnSpPr/>
          <p:nvPr/>
        </p:nvCxnSpPr>
        <p:spPr>
          <a:xfrm>
            <a:off x="2680855" y="4128009"/>
            <a:ext cx="0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/>
          <p:cNvCxnSpPr/>
          <p:nvPr/>
        </p:nvCxnSpPr>
        <p:spPr>
          <a:xfrm>
            <a:off x="4613563" y="3304310"/>
            <a:ext cx="0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箭头连接符 32"/>
          <p:cNvCxnSpPr/>
          <p:nvPr/>
        </p:nvCxnSpPr>
        <p:spPr>
          <a:xfrm>
            <a:off x="6913418" y="3400861"/>
            <a:ext cx="0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箭头连接符 33"/>
          <p:cNvCxnSpPr/>
          <p:nvPr/>
        </p:nvCxnSpPr>
        <p:spPr>
          <a:xfrm>
            <a:off x="6913418" y="4166325"/>
            <a:ext cx="0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箭头连接符 34"/>
          <p:cNvCxnSpPr/>
          <p:nvPr/>
        </p:nvCxnSpPr>
        <p:spPr>
          <a:xfrm>
            <a:off x="8901546" y="3325091"/>
            <a:ext cx="0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箭头连接符 35"/>
          <p:cNvCxnSpPr/>
          <p:nvPr/>
        </p:nvCxnSpPr>
        <p:spPr>
          <a:xfrm>
            <a:off x="9033164" y="4094019"/>
            <a:ext cx="0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/>
          <p:cNvCxnSpPr/>
          <p:nvPr/>
        </p:nvCxnSpPr>
        <p:spPr>
          <a:xfrm>
            <a:off x="8901546" y="4797138"/>
            <a:ext cx="0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接箭头连接符 37"/>
          <p:cNvCxnSpPr/>
          <p:nvPr/>
        </p:nvCxnSpPr>
        <p:spPr>
          <a:xfrm>
            <a:off x="10979727" y="3394364"/>
            <a:ext cx="0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箭头连接符 38"/>
          <p:cNvCxnSpPr/>
          <p:nvPr/>
        </p:nvCxnSpPr>
        <p:spPr>
          <a:xfrm>
            <a:off x="11090564" y="4080164"/>
            <a:ext cx="0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接箭头连接符 39"/>
          <p:cNvCxnSpPr/>
          <p:nvPr/>
        </p:nvCxnSpPr>
        <p:spPr>
          <a:xfrm>
            <a:off x="10993582" y="4637810"/>
            <a:ext cx="0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895355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2511811023626,&quot;left&quot;:295.6359842519685,&quot;top&quot;:183.5567716535433,&quot;width&quot;:344.1822834645669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212</TotalTime>
  <Words>667</Words>
  <Application>Microsoft Office PowerPoint</Application>
  <PresentationFormat>宽屏</PresentationFormat>
  <Paragraphs>222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6" baseType="lpstr">
      <vt:lpstr>新細明體</vt:lpstr>
      <vt:lpstr>宋体</vt:lpstr>
      <vt:lpstr>Arial</vt:lpstr>
      <vt:lpstr>Calibri</vt:lpstr>
      <vt:lpstr>Calibri Light</vt:lpstr>
      <vt:lpstr>Office Theme</vt:lpstr>
      <vt:lpstr>云电脑平台架构</vt:lpstr>
      <vt:lpstr>PowerPoint 演示文稿</vt:lpstr>
      <vt:lpstr>PowerPoint 演示文稿</vt:lpstr>
      <vt:lpstr>用户体验的评测指标</vt:lpstr>
      <vt:lpstr>首帧时长</vt:lpstr>
      <vt:lpstr>首帧时长优化</vt:lpstr>
      <vt:lpstr>操作时延</vt:lpstr>
      <vt:lpstr>影响时延的关键因素</vt:lpstr>
      <vt:lpstr>响应时延优化方法-网络传输时延优化</vt:lpstr>
      <vt:lpstr>响应时延优化方法 -  视频编解码优化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/>
  <cp:lastModifiedBy>chensong</cp:lastModifiedBy>
  <cp:revision>124</cp:revision>
  <dcterms:created xsi:type="dcterms:W3CDTF">2025-07-23T00:59:00Z</dcterms:created>
  <dcterms:modified xsi:type="dcterms:W3CDTF">2025-11-16T06:50:45Z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53D98EA922644B478A13410A32A3BB50_13</vt:lpwstr>
  </property>
  <property fmtid="{D5CDD505-2E9C-101B-9397-08002B2CF9AE}" pid="3" name="KSOProductBuildVer">
    <vt:lpwstr>3076-12.2.0.23155</vt:lpwstr>
  </property>
</Properties>
</file>